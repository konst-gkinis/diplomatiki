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~30΄΄  |  Σύνολο στόχος: 20 λεπτά.</a:t>
            </a:r>
          </a:p>
          <a:p>
            <a:r>
              <a:t>Καλησπέρα σας. Ονομάζομαι Κωνσταντίνος Γκίνης. Η διπλωματική μου παρουσιάζει</a:t>
            </a:r>
          </a:p>
          <a:p>
            <a:r>
              <a:t>τον «Πάγκο Εργασίας Εκπομπών» (Emissions Workbench): μια πλατφόρμα λογισμικού</a:t>
            </a:r>
          </a:p>
          <a:p>
            <a:r>
              <a:t>παραγωγικής κλίμακας που σχεδίασε και υλοποίησε η ομάδα Energy Transition</a:t>
            </a:r>
          </a:p>
          <a:p>
            <a:r>
              <a:t>Platform της Maersk, για τη μέτρηση, πιστοποίηση και βελτιστοποίηση των εκπομπών</a:t>
            </a:r>
          </a:p>
          <a:p>
            <a:r>
              <a:t>αερίων θερμοκηπίου στη ναυτιλία. Επιβλέπων ο καθηγητής κ. Χρήστος Μπούρας.</a:t>
            </a:r>
          </a:p>
          <a:p>
            <a:r>
              <a:t>→ Ξεκινώ από το πρόβλημα που γέννησε την ανάγκη.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~70΄΄</a:t>
            </a:r>
          </a:p>
          <a:p>
            <a:r>
              <a:t>Η Maersk, με στόλο 700+ πλοίων, δεν μπορούσε να ανταποκριθεί αξιόπιστα στις</a:t>
            </a:r>
          </a:p>
          <a:p>
            <a:r>
              <a:t>αυξανόμενες απαιτήσεις για δεδομένα εκπομπών. Η διαδικασία ήταν εξ ολοκλήρου</a:t>
            </a:r>
          </a:p>
          <a:p>
            <a:r>
              <a:t>χειρωνακτική: αίτημα μέσω email, μη αυτόματη εξαγωγή δεδομένων, εφαρμογή</a:t>
            </a:r>
          </a:p>
          <a:p>
            <a:r>
              <a:t>συντελεστών σε φύλλα Excel, και απάντηση μετά από 3 έως 8 εβδομάδες.</a:t>
            </a:r>
          </a:p>
          <a:p>
            <a:r>
              <a:t>Αυτό κόστιζε σε τέσσερις άξονες: ΑΚΡΙΒΕΙΑ (λάθη μεθοδολογίας), ΤΑΧΥΤΗΤΑ</a:t>
            </a:r>
          </a:p>
          <a:p>
            <a:r>
              <a:t>(καθυστερήσεις που σήμαιναν απώλεια συμβολαίων), ΙΧΝΗΛΑΣΙΜΟΤΗΤΑ (κανένα</a:t>
            </a:r>
          </a:p>
          <a:p>
            <a:r>
              <a:t>audit) και ΚΛΙΜΑΚΑ (η ανθρώπινη δυναμικότητα δεν κλιμακώνεται για 1.300+ χρήστες).</a:t>
            </a:r>
          </a:p>
          <a:p>
            <a:r>
              <a:t>→ Το πρόβλημα ήταν γνωστό· χρειαζόταν όμως ένας καταλύτης.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~70΄΄</a:t>
            </a:r>
          </a:p>
          <a:p>
            <a:r>
              <a:t>Αυτός ο καταλύτης ήταν ο εσωτερικός έλεγχος Group Internal Audit του 2023.</a:t>
            </a:r>
          </a:p>
          <a:p>
            <a:r>
              <a:t>Εντόπισε τέσσερα συγκεκριμένα ευρήματα: έλλειψη παρακολούθησης δεδομένων,</a:t>
            </a:r>
          </a:p>
          <a:p>
            <a:r>
              <a:t>απουσία ίχνους ελέγχου (κρίσιμο εν όψει CSRD και EU ETS), αδυναμία κλιμάκωσης,</a:t>
            </a:r>
          </a:p>
          <a:p>
            <a:r>
              <a:t>και υψηλό ποσοστό σφαλμάτων. Η σημασία του ελέγχου ήταν ότι έδωσε επίσημο</a:t>
            </a:r>
          </a:p>
          <a:p>
            <a:r>
              <a:t>βάρος σε ένα ήδη γνωστό πρόβλημα, και έτσι εγκρίθηκαν πόροι για ένα εξ</a:t>
            </a:r>
          </a:p>
          <a:p>
            <a:r>
              <a:t>ολοκλήρου νέο σύστημα. Η ανάπτυξη ξεκίνησε τον Μάρτιο 2023 και έφτασε σε</a:t>
            </a:r>
          </a:p>
          <a:p>
            <a:r>
              <a:t>παραγωγή τον Σεπτέμβριο 2023: μόλις έξι μήνες.</a:t>
            </a:r>
          </a:p>
          <a:p>
            <a:r>
              <a:t>→ Ας δούμε τι έπρεπε να κάνει αυτό το σύστημα, τις προδιαγραφές.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~75΄΄</a:t>
            </a:r>
          </a:p>
          <a:p>
            <a:r>
              <a:t>Οι λειτουργικές απαιτήσεις προέκυψαν από έξι διακριτές ομάδες χρηστών, η καθεμία</a:t>
            </a:r>
          </a:p>
          <a:p>
            <a:r>
              <a:t>με διαφορετική ανάγκη και συχνότητα: από τα ECO Delivery Products που θέλουν</a:t>
            </a:r>
          </a:p>
          <a:p>
            <a:r>
              <a:t>αυτόματα πιστοποιητικά πολλές φορές την ημέρα, μέχρι τους Account Managers που</a:t>
            </a:r>
          </a:p>
          <a:p>
            <a:r>
              <a:t>χρειάζονται δεδομένα σε πραγματικό χρόνο μέσα σε μια διαπραγμάτευση.</a:t>
            </a:r>
          </a:p>
          <a:p>
            <a:r>
              <a:t>Από αυτή την ποικιλομορφία προκύπτουν οι βασικές λειτουργίες του συστήματος:</a:t>
            </a:r>
          </a:p>
          <a:p>
            <a:r>
              <a:t>αναζήτηση εκπομπών ανά πελάτη και χρονικό εύρος, ανάλυση ανά αποστολή και</a:t>
            </a:r>
          </a:p>
          <a:p>
            <a:r>
              <a:t>δρομολόγιο, εξαγωγή σε Excel, αυτόματη έκδοση πιστοποιητικών, και όλα αυτά</a:t>
            </a:r>
          </a:p>
          <a:p>
            <a:r>
              <a:t>σε λογική self-service, χωρίς μεσολάβηση ειδικής ομάδας αναφορών.</a:t>
            </a:r>
          </a:p>
          <a:p>
            <a:r>
              <a:t>→ Πέρα όμως από το «τι κάνει», υπάρχει το «πώς πρέπει να συμπεριφέρεται».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~75΄΄</a:t>
            </a:r>
          </a:p>
          <a:p>
            <a:r>
              <a:t>Εδώ είναι το σημείο που ζήτησε ιδιαίτερα η επιτροπή: οι μη-λειτουργικές, τεχνικές</a:t>
            </a:r>
          </a:p>
          <a:p>
            <a:r>
              <a:t>απαιτήσεις. Συνδυάζοντας τις ανάγκες των χρηστών με τα ευρήματα GIA, το σύστημα</a:t>
            </a:r>
          </a:p>
          <a:p>
            <a:r>
              <a:t>έπρεπε να εγγυάται: πλήρη ιχνηλασιμότητα δεδομένων· αμετάβλητο audit trail·</a:t>
            </a:r>
          </a:p>
          <a:p>
            <a:r>
              <a:t>δεδομένα πραγματικού χρόνου (freshness σε ώρες, όχι εβδομάδες)· κλιμακωσιμότητα·</a:t>
            </a:r>
          </a:p>
          <a:p>
            <a:r>
              <a:t>υψηλή διαθεσιμότητα· επαληθευσιμότητα για CSRD, EU ETS, ISCC· πλήρη</a:t>
            </a:r>
          </a:p>
          <a:p>
            <a:r>
              <a:t>αυτοματοποίηση· και ασφαλή εξουσιοδότηση.</a:t>
            </a:r>
          </a:p>
          <a:p>
            <a:r>
              <a:t>Καθεμία από αυτές καθόρισε μια αρχιτεκτονική επιλογή, που φαίνεται στην κάτω</a:t>
            </a:r>
          </a:p>
          <a:p>
            <a:r>
              <a:t>γραμμή: event-driven αρχιτεκτονική, event sourcing για το audit trail, Phoenix</a:t>
            </a:r>
          </a:p>
          <a:p>
            <a:r>
              <a:t>LiveView για real-time, και BEAM/Elixir για διαθεσιμότητα.</a:t>
            </a:r>
          </a:p>
          <a:p>
            <a:r>
              <a:t>→ Δείτε πώς υλοποιήθηκαν αυτές οι απαιτήσεις, η λύση.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~80΄΄</a:t>
            </a:r>
          </a:p>
          <a:p>
            <a:r>
              <a:t>Η λύση είναι μία ενιαία πλατφόρμα, σε ένα monorepo, οργανωμένη σε τέσσερις</a:t>
            </a:r>
          </a:p>
          <a:p>
            <a:r>
              <a:t>πυλώνες. ΠΥΛΩΝΑΣ Α – Ocean Emissions: αυτόματη μέτρηση εκπομπών ανά αποστολή,</a:t>
            </a:r>
          </a:p>
          <a:p>
            <a:r>
              <a:t>από τηλεμετρία στόλου (STAR Connect) και ενσωμάτωση EU ETS. ΠΥΛΩΝΑΣ Β – ECO</a:t>
            </a:r>
          </a:p>
          <a:p>
            <a:r>
              <a:t>Delivery: τα εμπορικά προϊόντα χαμηλού άνθρακα, με αυτόματα πιστοποιητικά και τη</a:t>
            </a:r>
          </a:p>
          <a:p>
            <a:r>
              <a:t>λογιστική πράσινου καυσίμου του Energy Bank. ΠΥΛΩΝΑΣ Γ – Net Zero 2040: εσωτερικοί</a:t>
            </a:r>
          </a:p>
          <a:p>
            <a:r>
              <a:t>πίνακες για οδικούς χάρτες αποκαρβονοποίησης. ΠΥΛΩΝΑΣ Δ – Bunker Optimization:</a:t>
            </a:r>
          </a:p>
          <a:p>
            <a:r>
              <a:t>βελτιστοποίηση πλάνων ανεφοδιασμού για ελάχιστο κόστος καυσίμου.</a:t>
            </a:r>
          </a:p>
          <a:p>
            <a:r>
              <a:t>Σημαντικό: οι πυλώνες δεν είναι ανεξάρτητοι, επικοινωνούν μέσω Kafka, όπως</a:t>
            </a:r>
          </a:p>
          <a:p>
            <a:r>
              <a:t>δείχνει η ροή δεδομένων στο κάτω μέρος.</a:t>
            </a:r>
          </a:p>
          <a:p>
            <a:r>
              <a:t>→ Πώς οργανώνεται τεχνικά όλο αυτό;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~70΄΄</a:t>
            </a:r>
          </a:p>
          <a:p>
            <a:r>
              <a:t>Η αρχιτεκτονική στηρίζεται σε πέντε αρχές. Clean Architecture: ο επιχειρησιακός</a:t>
            </a:r>
          </a:p>
          <a:p>
            <a:r>
              <a:t>πυρήνας είναι ανεξάρτητος από την υποδομή. Event-driven ingestion μέσω Kafka και</a:t>
            </a:r>
          </a:p>
          <a:p>
            <a:r>
              <a:t>εργασιών Oban. Event Sourcing ειδικά για το Energy Bank, που δίνει πλήρες ιστορικό</a:t>
            </a:r>
          </a:p>
          <a:p>
            <a:r>
              <a:t>και το αμετάβλητο audit trail. Real-time web με Phoenix LiveView, χωρίς reload</a:t>
            </a:r>
          </a:p>
          <a:p>
            <a:r>
              <a:t>σελίδας. Και ανάπτυξη σε Azure/Kubernetes με auto-scaling και infrastructure-as-code</a:t>
            </a:r>
          </a:p>
          <a:p>
            <a:r>
              <a:t>μέσω Terraform. Το διάγραμμα δείχνει τη συνολική ροή, από τις πηγές δεδομένων,</a:t>
            </a:r>
          </a:p>
          <a:p>
            <a:r>
              <a:t>μέσα από τα components, έως το επίπεδο ιστού.</a:t>
            </a:r>
          </a:p>
          <a:p>
            <a:r>
              <a:t>→ Ας δούμε τώρα την πλατφόρμα στην πράξη.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~70΄΄  [όταν μπουν τα screenshots, δείξε τη ζωντανή ροή]</a:t>
            </a:r>
          </a:p>
          <a:p>
            <a:r>
              <a:t>Αυτά είναι τα δύο πρώτα από τα πέντε χαρακτηριστικά του κύκλου αξίας.</a:t>
            </a:r>
          </a:p>
          <a:p>
            <a:r>
              <a:t>ΧΑΡΑΚΤΗΡΙΣΤΙΚΟ 1 – Αναζήτηση: ο χρήστης εισάγει κωδικό πελάτη και χρονικό εύρος,</a:t>
            </a:r>
          </a:p>
          <a:p>
            <a:r>
              <a:t>και τα δεδομένα εκπομπών επιστρέφονται άμεσα, αντικαθιστώντας τη ροή</a:t>
            </a:r>
          </a:p>
          <a:p>
            <a:r>
              <a:t>email-και-αναμονής 3 έως 8 εβδομάδων. Τεχνικά, γίνεται polling από το Dremio μέσω</a:t>
            </a:r>
          </a:p>
          <a:p>
            <a:r>
              <a:t>εργασιών Oban, που εξασφαλίζει freshness σε ώρες.</a:t>
            </a:r>
          </a:p>
          <a:p>
            <a:r>
              <a:t>ΧΑΡΑΚΤΗΡΙΣΤΙΚΟ 2 – Ανάλυση ανά αποστολή και δρομολόγιο: ο πελάτης βλέπει ποια</a:t>
            </a:r>
          </a:p>
          <a:p>
            <a:r>
              <a:t>δρομολόγια βαραίνουν περισσότερο το αποτύπωμά του, που είναι η βάση για να</a:t>
            </a:r>
          </a:p>
          <a:p>
            <a:r>
              <a:t>προτείνουμε υπηρεσίες ECO.</a:t>
            </a:r>
          </a:p>
          <a:p>
            <a:r>
              <a:t>→ Από τα δεδομένα, περνάμε στα πιστοποιητικά.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~60΄΄</a:t>
            </a:r>
          </a:p>
          <a:p>
            <a:r>
              <a:t>ΧΑΡΑΚΤΗΡΙΣΤΙΚΟ 4 – Δημιουργία πιστοποιητικών: το εργαλείο Certificates ενεργοποιεί</a:t>
            </a:r>
          </a:p>
          <a:p>
            <a:r>
              <a:t>εργασίες Oban που αντλούν από το ισοζύγιο του Energy Bank, επαληθεύουν τα διαθέσιμα</a:t>
            </a:r>
          </a:p>
          <a:p>
            <a:r>
              <a:t>υπόλοιπα βιώσιμου καυσίμου, και παράγουν έγγραφα συμμόρφωσης ISCC. ΧΑΡΑΚΤΗΡΙΣΤΙΚΟ</a:t>
            </a:r>
          </a:p>
          <a:p>
            <a:r>
              <a:t>5 – το τελικό PDF συνοδεύεται από αναλυτική αναφορά μεθοδολογίας, ώστε ο πελάτης</a:t>
            </a:r>
          </a:p>
          <a:p>
            <a:r>
              <a:t>να το χρησιμοποιήσει σε δικές του αναφορές CSRD. Όλη αυτή η ροή, που πριν απαιτούσε</a:t>
            </a:r>
          </a:p>
          <a:p>
            <a:r>
              <a:t>χειρωνακτική εργασία εβδομάδων, εκτελείται πλέον αυτόματα, σε λεπτά. Αριστερά κάτω,</a:t>
            </a:r>
          </a:p>
          <a:p>
            <a:r>
              <a:t>το ΧΑΡΑΚΤΗΡΙΣΤΙΚΟ 3: εξαγωγή σε Excel, τη μορφή που χρησιμοποιούν στην πράξη οι</a:t>
            </a:r>
          </a:p>
          <a:p>
            <a:r>
              <a:t>τελικοί χρήστες.</a:t>
            </a:r>
          </a:p>
          <a:p>
            <a:r>
              <a:t>→ Πίσω από αυτά υπάρχουν ακόμη τρία σημαντικά υποσυστήματα.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~50΄΄</a:t>
            </a:r>
          </a:p>
          <a:p>
            <a:r>
              <a:t>Δύο ακόμη όψεις πίσω από τη διεπαφή. Το Energy Bank: ένα event-sourced ledger με</a:t>
            </a:r>
          </a:p>
          <a:p>
            <a:r>
              <a:t>καταθέσεις και αναλήψεις βιώσιμου καυσίμου, που επιβάλλει τον περιορισμό του</a:t>
            </a:r>
          </a:p>
          <a:p>
            <a:r>
              <a:t>ισοζυγίου μάζας. Και το Bunker Optimization: το αποτέλεσμα του solver, δηλαδή το</a:t>
            </a:r>
          </a:p>
          <a:p>
            <a:r>
              <a:t>βέλτιστο πλάνο ανεφοδιασμού ανά λιμάνι και δρομολόγιο.</a:t>
            </a:r>
          </a:p>
          <a:p>
            <a:r>
              <a:t>→ Πριν τα αποτελέσματα, μια σύντομη θεωρητική βάση.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~60΄΄  [σύντομα· η επιτροπή ζήτησε λιγότερη θεωρία]</a:t>
            </a:r>
          </a:p>
          <a:p>
            <a:r>
              <a:t>Πολύ συνοπτικά το θεωρητικό υπόβαθρο. Οι εκπομπές κατηγοριοποιούνται σε Scope 1,</a:t>
            </a:r>
          </a:p>
          <a:p>
            <a:r>
              <a:t>2 και 3 (άμεσες, έμμεσες από ενέργεια, αλυσίδας αξίας). Τα όρια του συστήματος</a:t>
            </a:r>
          </a:p>
          <a:p>
            <a:r>
              <a:t>ορίζονται ως Tank-to-Wake ή Well-to-Wake. Ο πυρήνας του υπολογισμού είναι οι</a:t>
            </a:r>
          </a:p>
          <a:p>
            <a:r>
              <a:t>trade factors, οι συντελεστές εμπορικής διαδρομής. Και η λογιστική πράσινου</a:t>
            </a:r>
          </a:p>
          <a:p>
            <a:r>
              <a:t>καυσίμου στηρίζεται στο mass balance και στο book-and-claim, υπό τα πρότυπα</a:t>
            </a:r>
          </a:p>
          <a:p>
            <a:r>
              <a:t>ISCC, GLEC και το GHG Protocol.</a:t>
            </a:r>
          </a:p>
          <a:p>
            <a:r>
              <a:t>Το ουσιώδες: αυτές οι έννοιες δεν έμειναν θεωρητικές, αντιστοιχήθηκαν άμεσα σε</a:t>
            </a:r>
          </a:p>
          <a:p>
            <a:r>
              <a:t>σχεδιαστικά πρότυπα μέσα στον κώδικα.</a:t>
            </a:r>
          </a:p>
          <a:p>
            <a:r>
              <a:t>→ Ποια τεχνολογία τα υλοποιεί;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~60΄΄</a:t>
            </a:r>
          </a:p>
          <a:p>
            <a:r>
              <a:t>Η στοίβα στηρίζεται σε τρεις πυλώνες: την πλατφόρμα BEAM/Elixir για διαθεσιμότητα</a:t>
            </a:r>
          </a:p>
          <a:p>
            <a:r>
              <a:t>και ταυτοχρονισμό· το Phoenix LiveView για real-time διεπαφή χωρίς reload· και το</a:t>
            </a:r>
          </a:p>
          <a:p>
            <a:r>
              <a:t>Nix για αναπαραγώγιμα περιβάλλοντα. Τα υποστηρικτικά: PostgreSQL/Ecto για</a:t>
            </a:r>
          </a:p>
          <a:p>
            <a:r>
              <a:t>μονιμότητα, Apache Kafka για τη ροή συμβάντων, Commanded/EventStore για το event</a:t>
            </a:r>
          </a:p>
          <a:p>
            <a:r>
              <a:t>sourcing του Energy Bank, Oban για ασύγχρονες εργασίες, Dremio ως data lake, και</a:t>
            </a:r>
          </a:p>
          <a:p>
            <a:r>
              <a:t>Azure με Kubernetes και Terraform για deployment.</a:t>
            </a:r>
          </a:p>
          <a:p>
            <a:r>
              <a:t>→ Εξίσου σημαντικό με την τεχνολογία ήταν ο τρόπος εργασίας της ομάδας.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~55΄΄  [προαιρετική: παράλειψε αν πιέζει ο χρόνος]</a:t>
            </a:r>
          </a:p>
          <a:p>
            <a:r>
              <a:t>Δύο σύντομα παραδείγματα από τον πραγματικό κώδικα, που δείχνουν γιατί ο</a:t>
            </a:r>
          </a:p>
          <a:p>
            <a:r>
              <a:t>λειτουργικός προγραμματισμός ταιριάζει στο πρόβλημα. Πάνω αριστερά: το pattern</a:t>
            </a:r>
          </a:p>
          <a:p>
            <a:r>
              <a:t>matching σε πολλαπλές ρήτρες της calculate επιλέγει αυτόματα τη σωστή περίπτωση</a:t>
            </a:r>
          </a:p>
          <a:p>
            <a:r>
              <a:t>και κανονικοποιεί τις μονάδες (π.χ. megajoules σε kWh) δηλωτικά, χωρίς if. Κάτω</a:t>
            </a:r>
          </a:p>
          <a:p>
            <a:r>
              <a:t>αριστερά: ο τελεστής pipe διοχετεύει μια τιμή μέσα από διαδοχικούς</a:t>
            </a:r>
          </a:p>
          <a:p>
            <a:r>
              <a:t>μετασχηματισμούς, αριστερά προς δεξιά, και ένα ερώτημα Ecto που είναι δηλωτικό</a:t>
            </a:r>
          </a:p>
          <a:p>
            <a:r>
              <a:t>και type-safe. Δεξιά συνοψίζονται τα οφέλη, με κυριότερο την αμεταβλητότητα, που</a:t>
            </a:r>
          </a:p>
          <a:p>
            <a:r>
              <a:t>δίνει ασφάλεια στον ταυτοχρονισμό του BEAM.</a:t>
            </a:r>
          </a:p>
          <a:p>
            <a:r>
              <a:t>→ Περνάω στις εργασιακές μεθόδους.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~70΄΄</a:t>
            </a:r>
          </a:p>
          <a:p>
            <a:r>
              <a:t>Η ομάδα των 28 μελών εφάρμοσε Extreme Programming. Pair programming: συνεχής</a:t>
            </a:r>
          </a:p>
          <a:p>
            <a:r>
              <a:t>έλεγχος κώδικα και μεταφορά γνώσης. TDD, με κάλυψη 80%+. Continuous Integration/</a:t>
            </a:r>
          </a:p>
          <a:p>
            <a:r>
              <a:t>Delivery σε λογική trunk-based, που έφτανε τις ~32 αναπτύξεις την ημέρα. Vertical</a:t>
            </a:r>
          </a:p>
          <a:p>
            <a:r>
              <a:t>ownership: κάθε μηχανικός αναλαμβάνει λειτουργικότητα από τη βάση δεδομένων έως το</a:t>
            </a:r>
          </a:p>
          <a:p>
            <a:r>
              <a:t>UI. Και σφιχτοί βρόχοι ανατροφοδότησης σε κάθε επίπεδο. Αυτές οι πρακτικές είναι</a:t>
            </a:r>
          </a:p>
          <a:p>
            <a:r>
              <a:t>που έκαναν εφικτό τον κύκλο των έξι μηνών έως την παραγωγή.</a:t>
            </a:r>
          </a:p>
          <a:p>
            <a:r>
              <a:t>→ Και ερχόμαστε στο πιο σημαντικό: τα αποτελέσματα.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~80΄΄  [η κορυφαία διαφάνεια· δώσε χρόνο και έμφαση]</a:t>
            </a:r>
          </a:p>
          <a:p>
            <a:r>
              <a:t>Ο αντίκτυπος είναι μετρήσιμος. 1.300+ ενεργοί χρήστες, από λιγότερους από 100</a:t>
            </a:r>
          </a:p>
          <a:p>
            <a:r>
              <a:t>στην εποχή του Excel. ECO Delivery αξίας 31 εκατομμυρίων δολαρίων, ή 98.000 FFE,</a:t>
            </a:r>
          </a:p>
          <a:p>
            <a:r>
              <a:t>μόνο για το 2024, μια εμπορική δραστηριότητα που πριν δεν ήταν τεχνικά εφικτή σε</a:t>
            </a:r>
          </a:p>
          <a:p>
            <a:r>
              <a:t>αυτή την κλίμακα. Από την έναρξη έως την παραγωγή: έξι μήνες. ~32 αναπτύξεις την</a:t>
            </a:r>
          </a:p>
          <a:p>
            <a:r>
              <a:t>ημέρα, μία κάθε δεκαπέντε λεπτά. 720+ schema migrations χωρίς καμία διακοπή</a:t>
            </a:r>
          </a:p>
          <a:p>
            <a:r>
              <a:t>υπηρεσίας. Και πλήρης, 100%, αντιμετώπιση όλων των ευρημάτων του ελέγχου GIA.</a:t>
            </a:r>
          </a:p>
          <a:p>
            <a:r>
              <a:t>→ Ο πλήρης πίνακας μετρικών.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~60΄΄</a:t>
            </a:r>
          </a:p>
          <a:p>
            <a:r>
              <a:t>Ο συγκεντρωτικός πίνακας προσθέτει και την τεχνική ωριμότητα: 80%+ κάλυψη tests,</a:t>
            </a:r>
          </a:p>
          <a:p>
            <a:r>
              <a:t>~6.000 αρχεία πηγαίου κώδικα. Τρία συμπεράσματα αξίζει να κρατήσετε: πρώτον, η</a:t>
            </a:r>
          </a:p>
          <a:p>
            <a:r>
              <a:t>πλατφόρμα πέρασε από proof-of-concept σε παραγωγή με μετρήσιμη εμπορική αξία μέσα</a:t>
            </a:r>
          </a:p>
          <a:p>
            <a:r>
              <a:t>σε μήνες. Δεύτερον, ταχύτητα και ποιότητα δεν είναι αντίθετοι στόχοι. Και τρίτον, ο</a:t>
            </a:r>
          </a:p>
          <a:p>
            <a:r>
              <a:t>τεχνικός σχεδιασμός (event sourcing, audit trail) δεν υπηρετεί μόνο λειτουργικούς</a:t>
            </a:r>
          </a:p>
          <a:p>
            <a:r>
              <a:t>στόχους, αλλά και την εταιρική διακυβέρνηση.</a:t>
            </a:r>
          </a:p>
          <a:p>
            <a:r>
              <a:t>→ Τι μάθαμε από την υλοποίηση;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~70΄΄</a:t>
            </a:r>
          </a:p>
          <a:p>
            <a:r>
              <a:t>Πέντε μαθήματα, κυρίως συμβιβασμοί. Το vertical ownership δίνει συνοχή, αλλά αυξάνει</a:t>
            </a:r>
          </a:p>
          <a:p>
            <a:r>
              <a:t>το γνωσιακό φορτίο, αντίμετρο το pairing και το onboarding. Το monorepo προσφέρει</a:t>
            </a:r>
          </a:p>
          <a:p>
            <a:r>
              <a:t>ατομικές αναπτύξεις, με κόστος χρόνου build. Το event sourcing είναι ιδανικό για</a:t>
            </a:r>
          </a:p>
          <a:p>
            <a:r>
              <a:t>audit-heavy προβλήματα όπως το Energy Bank, αλλά πρέπει να εφαρμόζεται επιλεκτικά.</a:t>
            </a:r>
          </a:p>
          <a:p>
            <a:r>
              <a:t>Το cloud δίνει ευελιξία, με κόστος που απαιτεί σχεδιασμό. Και το βασικότερο: η</a:t>
            </a:r>
          </a:p>
          <a:p>
            <a:r>
              <a:t>ταχύτητα παράδοσης, όταν στηρίζεται σε TDD και pair programming, γίνεται</a:t>
            </a:r>
          </a:p>
          <a:p>
            <a:r>
              <a:t>ανταγωνιστικό πλεονέκτημα, η ποιότητα επιτρέπει την ταχύτητα, δεν την εμποδίζει.</a:t>
            </a:r>
          </a:p>
          <a:p>
            <a:r>
              <a:t>→ Πού πηγαίνει το έργο από εδώ;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~50΄΄</a:t>
            </a:r>
          </a:p>
          <a:p>
            <a:r>
              <a:t>Οι κυριότερες επεκτάσεις που ήδη σχεδιάζονται: κάλυψη εκπομπών Scope 2 (γραφεία,</a:t>
            </a:r>
          </a:p>
          <a:p>
            <a:r>
              <a:t>τερματικά, cold ironing)· επέκταση κάλυψης στόλου και δραστηριοτήτων· πληρέστερη</a:t>
            </a:r>
          </a:p>
          <a:p>
            <a:r>
              <a:t>αναφορά SBTi· προβλεπτικά analytics με σενάρια αποκαρβονοποίησης· και στενότερη</a:t>
            </a:r>
          </a:p>
          <a:p>
            <a:r>
              <a:t>σύνδεση του Bunker Optimization με τη λογιστική του Energy Bank.</a:t>
            </a:r>
          </a:p>
          <a:p>
            <a:r>
              <a:t>→ Κλείνω.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~30΄΄</a:t>
            </a:r>
          </a:p>
          <a:p>
            <a:r>
              <a:t>Συνοψίζοντας: ο Πάγκος Εργασίας Εκπομπών αποδεικνύει ότι ένα σύστημα μπορεί να</a:t>
            </a:r>
          </a:p>
          <a:p>
            <a:r>
              <a:t>συνδυάσει επιστημονική ακρίβεια, εμπορική αξιοπιστία και υψηλό ρυθμό παράδοσης ,</a:t>
            </a:r>
          </a:p>
          <a:p>
            <a:r>
              <a:t>αρκεί οι τεχνολογικές, αρχιτεκτονικές και μεθοδολογικές επιλογές να αντιμετωπίζονται</a:t>
            </a:r>
          </a:p>
          <a:p>
            <a:r>
              <a:t>ως ενιαίο σύστημα. Σας ευχαριστώ για την προσοχή σας· είμαι στη διάθεσή σας για</a:t>
            </a:r>
          </a:p>
          <a:p>
            <a:r>
              <a:t>ερωτήσεις.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64008" cy="6858000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up-4color-landsca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550306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06040" y="566928"/>
            <a:ext cx="896112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700" b="1" i="0">
                <a:solidFill>
                  <a:srgbClr val="7A1626"/>
                </a:solidFill>
                <a:latin typeface="Caladea"/>
                <a:cs typeface="Caladea"/>
                <a:ea typeface="Caladea"/>
              </a:rPr>
              <a:t>ΠΑΝΕΠΙΣΤΗΜΙΟ ΠΑΤΡΩΝ</a:t>
            </a:r>
          </a:p>
          <a:p>
            <a:pPr algn="l">
              <a:spcAft>
                <a:spcPts val="100"/>
              </a:spcAft>
              <a:buNone/>
            </a:pP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Πολυτεχνική Σχολή</a:t>
            </a:r>
          </a:p>
          <a:p>
            <a:pPr algn="l">
              <a:buNone/>
            </a:pP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Τμήμα Μηχανικών Η/Υ και Πληροφορικής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95728"/>
            <a:ext cx="10515600" cy="25400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60704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30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Πλατφόρμα λογισμικού για την επίτευξη του στόχου</a:t>
            </a:r>
          </a:p>
          <a:p>
            <a:pPr algn="l">
              <a:lnSpc>
                <a:spcPct val="105000"/>
              </a:lnSpc>
              <a:buNone/>
            </a:pPr>
            <a:r>
              <a:rPr sz="30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μηδενικές εκπομπές CO₂: Η περίπτωση της Mærsk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500" b="0" i="1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Διπλωματική Εργασία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00600"/>
            <a:ext cx="5943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900" b="1" i="0">
                <a:solidFill>
                  <a:srgbClr val="232323"/>
                </a:solidFill>
                <a:latin typeface="Caladea"/>
                <a:cs typeface="Caladea"/>
                <a:ea typeface="Caladea"/>
              </a:rPr>
              <a:t>Κωνσταντίνος Γκίνης</a:t>
            </a:r>
          </a:p>
          <a:p>
            <a:pPr algn="l">
              <a:buNone/>
            </a:pPr>
            <a:r>
              <a:rPr sz="130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Επιβλέπων:  </a:t>
            </a: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Χρήστος Μπούρας, Καθηγητής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800600"/>
            <a:ext cx="45720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1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Εξεταστική Επιτροπή</a:t>
            </a:r>
          </a:p>
          <a:p>
            <a:pPr algn="l">
              <a:spcAft>
                <a:spcPts val="100"/>
              </a:spcAft>
              <a:buNone/>
            </a:pPr>
            <a:r>
              <a:rPr sz="12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Ιωάννης Γαροφαλάκης, Καθηγητής</a:t>
            </a:r>
          </a:p>
          <a:p>
            <a:pPr algn="l">
              <a:buNone/>
            </a:pPr>
            <a:r>
              <a:rPr sz="12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Εύη Παπαϊωάννου, Επίκουρη Καθηγήτρια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7A1626"/>
                </a:solidFill>
                <a:latin typeface="Carlito"/>
                <a:cs typeface="Carlito"/>
                <a:ea typeface="Carlito"/>
              </a:rPr>
              <a:t>Πάτρα, Μάιος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C29B52"/>
                </a:solidFill>
                <a:latin typeface="Carlito"/>
                <a:cs typeface="Carlito"/>
                <a:ea typeface="Carlito"/>
              </a:rPr>
              <a:t>ΤΟ ΠΛΑΙΣΙΟ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FFFFFF"/>
                </a:solidFill>
                <a:latin typeface="Caladea"/>
                <a:cs typeface="Caladea"/>
                <a:ea typeface="Caladea"/>
              </a:rPr>
              <a:t>Το πρόβλημα: η χειρωνακτική διαδικασία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61264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6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Η Maersk (στόλος 700+ πλοίων) αδυνατούσε να ανταποκριθεί αξιόπιστα στις απαιτήσεις για δεδομένα εκπομπών.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212848"/>
            <a:ext cx="384048" cy="384048"/>
          </a:xfrm>
          <a:prstGeom prst="ellipse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12848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Carlito"/>
                <a:cs typeface="Carlito"/>
                <a:ea typeface="Carlit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176272"/>
            <a:ext cx="5486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450" b="1" i="0">
                <a:solidFill>
                  <a:srgbClr val="570F1B"/>
                </a:solidFill>
                <a:latin typeface="Carlito"/>
                <a:cs typeface="Carlito"/>
                <a:ea typeface="Carlito"/>
              </a:rPr>
              <a:t>Αίτημα μέσω email:  </a:t>
            </a: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Ο πελάτης ή το τμήμα πωλήσεων ζητά δεδομένα εκπομπών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871216"/>
            <a:ext cx="384048" cy="384048"/>
          </a:xfrm>
          <a:prstGeom prst="ellipse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71216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Carlito"/>
                <a:cs typeface="Carlito"/>
                <a:ea typeface="Carlit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834640"/>
            <a:ext cx="5486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450" b="1" i="0">
                <a:solidFill>
                  <a:srgbClr val="570F1B"/>
                </a:solidFill>
                <a:latin typeface="Carlito"/>
                <a:cs typeface="Carlito"/>
                <a:ea typeface="Carlito"/>
              </a:rPr>
              <a:t>Χειρωνακτική εξαγωγή:  </a:t>
            </a: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Μη αυτόματη άντληση δεδομένων από πολλαπλές πηγές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529584"/>
            <a:ext cx="384048" cy="384048"/>
          </a:xfrm>
          <a:prstGeom prst="ellipse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29584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Carlito"/>
                <a:cs typeface="Carlito"/>
                <a:ea typeface="Carlit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493008"/>
            <a:ext cx="5486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450" b="1" i="0">
                <a:solidFill>
                  <a:srgbClr val="570F1B"/>
                </a:solidFill>
                <a:latin typeface="Carlito"/>
                <a:cs typeface="Carlito"/>
                <a:ea typeface="Carlito"/>
              </a:rPr>
              <a:t>Excel + συντελεστές:  </a:t>
            </a: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Εφαρμογή συντελεστών εκπομπών σε υπολογιστικά φύλλα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187952"/>
            <a:ext cx="384048" cy="384048"/>
          </a:xfrm>
          <a:prstGeom prst="ellipse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87952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Carlito"/>
                <a:cs typeface="Carlito"/>
                <a:ea typeface="Carlit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151376"/>
            <a:ext cx="5486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450" b="1" i="0">
                <a:solidFill>
                  <a:srgbClr val="570F1B"/>
                </a:solidFill>
                <a:latin typeface="Carlito"/>
                <a:cs typeface="Carlito"/>
                <a:ea typeface="Carlito"/>
              </a:rPr>
              <a:t>Απάντηση σε 3–8 εβδομάδες:  </a:t>
            </a: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Αποστολή αποτελέσματος ξανά μέσω email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1298448"/>
            <a:ext cx="4617720" cy="4160520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1298448"/>
            <a:ext cx="109728" cy="4160520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1572768"/>
            <a:ext cx="3931920" cy="3657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sz="1700" b="1" i="0">
                <a:solidFill>
                  <a:srgbClr val="7A1626"/>
                </a:solidFill>
                <a:latin typeface="Caladea"/>
                <a:cs typeface="Caladea"/>
                <a:ea typeface="Caladea"/>
              </a:rPr>
              <a:t>Τι κόστιζε αυτό</a:t>
            </a:r>
          </a:p>
          <a:p>
            <a:pPr algn="l" indent="-201168" marL="201168">
              <a:spcAft>
                <a:spcPts val="100"/>
              </a:spcAft>
              <a:buFont typeface="Arial" pitchFamily="34" charset="0"/>
              <a:buChar char="▪"/>
            </a:pPr>
            <a:r>
              <a:rPr sz="1450" b="1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Ακρίβεια</a:t>
            </a:r>
          </a:p>
          <a:p>
            <a:pPr algn="l" lvl="1">
              <a:spcAft>
                <a:spcPts val="800"/>
              </a:spcAft>
              <a:buNone/>
            </a:pPr>
            <a:r>
              <a:rPr sz="12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λάθη μεθοδολογίας, ελλιπής κανονικοποίηση δεδομένων</a:t>
            </a:r>
          </a:p>
          <a:p>
            <a:pPr algn="l" indent="-201168" marL="201168">
              <a:spcAft>
                <a:spcPts val="100"/>
              </a:spcAft>
              <a:buFont typeface="Arial" pitchFamily="34" charset="0"/>
              <a:buChar char="▪"/>
            </a:pPr>
            <a:r>
              <a:rPr sz="1450" b="1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Ταχύτητα</a:t>
            </a:r>
          </a:p>
          <a:p>
            <a:pPr algn="l" lvl="1">
              <a:spcAft>
                <a:spcPts val="800"/>
              </a:spcAft>
              <a:buNone/>
            </a:pPr>
            <a:r>
              <a:rPr sz="12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καθυστέρηση εβδομάδων, απώλεια συμβολαίων</a:t>
            </a:r>
          </a:p>
          <a:p>
            <a:pPr algn="l" indent="-201168" marL="201168">
              <a:spcAft>
                <a:spcPts val="100"/>
              </a:spcAft>
              <a:buFont typeface="Arial" pitchFamily="34" charset="0"/>
              <a:buChar char="▪"/>
            </a:pPr>
            <a:r>
              <a:rPr sz="1450" b="1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Ιχνηλασιμότητα</a:t>
            </a:r>
          </a:p>
          <a:p>
            <a:pPr algn="l" lvl="1">
              <a:spcAft>
                <a:spcPts val="800"/>
              </a:spcAft>
              <a:buNone/>
            </a:pPr>
            <a:r>
              <a:rPr sz="12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καμία δυνατότητα ανεξάρτητου ελέγχου (audit)</a:t>
            </a:r>
          </a:p>
          <a:p>
            <a:pPr algn="l" indent="-201168" marL="201168">
              <a:spcAft>
                <a:spcPts val="100"/>
              </a:spcAft>
              <a:buFont typeface="Arial" pitchFamily="34" charset="0"/>
              <a:buChar char="▪"/>
            </a:pPr>
            <a:r>
              <a:rPr sz="1450" b="1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Κλίμακα</a:t>
            </a:r>
          </a:p>
          <a:p>
            <a:pPr algn="l" lvl="1">
              <a:buNone/>
            </a:pPr>
            <a:r>
              <a:rPr sz="12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1.300+ χρήστες, ανθρώπινη δυναμικότητα δεν κλιμακώνεται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Πάγκος Εργασίας Εκπομπών · Διπλωματική Εργασία, Κ. Γκίνης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C29B52"/>
                </a:solidFill>
                <a:latin typeface="Carlito"/>
                <a:cs typeface="Carlito"/>
                <a:ea typeface="Carlito"/>
              </a:rPr>
              <a:t>Ο ΚΑΤΑΛΥΤΗΣ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FFFFFF"/>
                </a:solidFill>
                <a:latin typeface="Caladea"/>
                <a:cs typeface="Caladea"/>
                <a:ea typeface="Caladea"/>
              </a:rPr>
              <a:t>Ο εσωτερικός έλεγχος GIA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5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Ο έλεγχος Group Internal Audit (2023) </a:t>
            </a:r>
            <a:r>
              <a:rPr sz="15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μετέτρεψε ένα γνωστό λειτουργικό πρόβλημα σε επίσημη, επείγουσα προτεραιότητα, και όρισε τις απαιτήσεις του συστήματος.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12848"/>
            <a:ext cx="2670048" cy="2331720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212848"/>
            <a:ext cx="2670048" cy="91440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468880"/>
            <a:ext cx="2267712" cy="1965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200" b="1" i="0">
                <a:solidFill>
                  <a:srgbClr val="C29B52"/>
                </a:solidFill>
                <a:latin typeface="Caladea"/>
                <a:cs typeface="Caladea"/>
                <a:ea typeface="Caladea"/>
              </a:rPr>
              <a:t>01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buNone/>
            </a:pPr>
            <a:r>
              <a:rPr sz="15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Παρακολούθηση δεδομένων</a:t>
            </a:r>
          </a:p>
          <a:p>
            <a:pPr algn="l">
              <a:lnSpc>
                <a:spcPct val="110000"/>
              </a:lnSpc>
              <a:buNone/>
            </a:pPr>
            <a:r>
              <a:rPr sz="12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Καμία ενιαία ιχνηλάτηση ροής δεδομένων από την πηγή έως την αναφορά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2212848"/>
            <a:ext cx="2670048" cy="2331720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9272" y="2212848"/>
            <a:ext cx="2670048" cy="91440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468880"/>
            <a:ext cx="2267712" cy="1965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200" b="1" i="0">
                <a:solidFill>
                  <a:srgbClr val="C29B52"/>
                </a:solidFill>
                <a:latin typeface="Caladea"/>
                <a:cs typeface="Caladea"/>
                <a:ea typeface="Caladea"/>
              </a:rPr>
              <a:t>02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buNone/>
            </a:pPr>
            <a:r>
              <a:rPr sz="15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Ίχνος ελέγχου (audit trail)</a:t>
            </a:r>
          </a:p>
          <a:p>
            <a:pPr algn="l">
              <a:lnSpc>
                <a:spcPct val="110000"/>
              </a:lnSpc>
              <a:buNone/>
            </a:pPr>
            <a:r>
              <a:rPr sz="12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Αδύνατη η ανεξάρτητη επαλήθευση των υπολογισμών, κρίσιμο για CSRD/EU 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35624" y="2212848"/>
            <a:ext cx="2670048" cy="2331720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35624" y="2212848"/>
            <a:ext cx="2670048" cy="91440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468880"/>
            <a:ext cx="2267712" cy="1965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200" b="1" i="0">
                <a:solidFill>
                  <a:srgbClr val="C29B52"/>
                </a:solidFill>
                <a:latin typeface="Caladea"/>
                <a:cs typeface="Caladea"/>
                <a:ea typeface="Caladea"/>
              </a:rPr>
              <a:t>03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buNone/>
            </a:pPr>
            <a:r>
              <a:rPr sz="15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Κλιμακωσιμότητα</a:t>
            </a:r>
          </a:p>
          <a:p>
            <a:pPr algn="l">
              <a:lnSpc>
                <a:spcPct val="110000"/>
              </a:lnSpc>
              <a:buNone/>
            </a:pPr>
            <a:r>
              <a:rPr sz="12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Αύξηση αιτημάτων χωρίς αντίστοιχη κλιμάκωση ανθρώπινης δυναμικότητας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1976" y="2212848"/>
            <a:ext cx="2670048" cy="2331720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51976" y="2212848"/>
            <a:ext cx="2670048" cy="91440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3144" y="2468880"/>
            <a:ext cx="2267712" cy="1965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200" b="1" i="0">
                <a:solidFill>
                  <a:srgbClr val="C29B52"/>
                </a:solidFill>
                <a:latin typeface="Caladea"/>
                <a:cs typeface="Caladea"/>
                <a:ea typeface="Caladea"/>
              </a:rPr>
              <a:t>04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buNone/>
            </a:pPr>
            <a:r>
              <a:rPr sz="15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Ποσοστό σφαλμάτων</a:t>
            </a:r>
          </a:p>
          <a:p>
            <a:pPr algn="l">
              <a:lnSpc>
                <a:spcPct val="110000"/>
              </a:lnSpc>
              <a:buNone/>
            </a:pPr>
            <a:r>
              <a:rPr sz="12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Εγγενώς υψηλότερα λάθη σε χειρωνακτικές διαδικασίες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745736"/>
            <a:ext cx="11155680" cy="548640"/>
          </a:xfrm>
          <a:prstGeom prst="roundRect">
            <a:avLst/>
          </a:prstGeom>
          <a:solidFill>
            <a:srgbClr val="E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745736"/>
            <a:ext cx="1060704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7A1626"/>
                </a:solidFill>
                <a:latin typeface="Carlito"/>
                <a:cs typeface="Carlito"/>
                <a:ea typeface="Carlito"/>
              </a:rPr>
              <a:t>➜  Αποτέλεσμα:  </a:t>
            </a:r>
            <a:r>
              <a:rPr sz="14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έγκριση πόρων για εξ ολοκλήρου νέο σύστημα, ανάπτυξη από τον Μάρτιο 2023, πρώτοι χρήστες παραγωγής τον Σεπτέμβριο 2023.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Πάγκος Εργασίας Εκπομπών · Διπλωματική Εργασία, Κ. Γκίνης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C29B52"/>
                </a:solidFill>
                <a:latin typeface="Carlito"/>
                <a:cs typeface="Carlito"/>
                <a:ea typeface="Carlito"/>
              </a:rPr>
              <a:t>ΠΡΟΔΙΑΓΡΑΦΕΣ · 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FFFFFF"/>
                </a:solidFill>
                <a:latin typeface="Caladea"/>
                <a:cs typeface="Caladea"/>
                <a:ea typeface="Caladea"/>
              </a:rPr>
              <a:t>Λειτουργικές απαιτήσεις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556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4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Έξι ομάδες χρηστών με διαφορετικές ανάγκες όρισαν τι πρέπει να κάνει το σύστημα: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92808"/>
          <a:ext cx="6903719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2031"/>
                <a:gridCol w="3147284"/>
                <a:gridCol w="1624404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80" b="1" i="0">
                          <a:solidFill>
                            <a:srgbClr val="FFFFFF"/>
                          </a:solidFill>
                          <a:latin typeface="Carlito"/>
                          <a:cs typeface="Carlito"/>
                          <a:ea typeface="Carlito"/>
                        </a:rPr>
                        <a:t>Ομάδα χρηστών</a:t>
                      </a:r>
                    </a:p>
                  </a:txBody>
                  <a:tcPr marL="109728" marR="73152" marT="27432" marB="27432" anchor="ctr">
                    <a:solidFill>
                      <a:srgbClr val="7A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80" b="1" i="0">
                          <a:solidFill>
                            <a:srgbClr val="FFFFFF"/>
                          </a:solidFill>
                          <a:latin typeface="Carlito"/>
                          <a:cs typeface="Carlito"/>
                          <a:ea typeface="Carlito"/>
                        </a:rPr>
                        <a:t>Τι χρειάζεται</a:t>
                      </a:r>
                    </a:p>
                  </a:txBody>
                  <a:tcPr marL="109728" marR="73152" marT="27432" marB="27432" anchor="ctr">
                    <a:solidFill>
                      <a:srgbClr val="7A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80" b="1" i="0">
                          <a:solidFill>
                            <a:srgbClr val="FFFFFF"/>
                          </a:solidFill>
                          <a:latin typeface="Carlito"/>
                          <a:cs typeface="Carlito"/>
                          <a:ea typeface="Carlito"/>
                        </a:rPr>
                        <a:t>Συχνότητα</a:t>
                      </a:r>
                    </a:p>
                  </a:txBody>
                  <a:tcPr marL="109728" marR="73152" marT="27432" marB="27432" anchor="ctr">
                    <a:solidFill>
                      <a:srgbClr val="7A16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80" b="1" i="0">
                          <a:solidFill>
                            <a:srgbClr val="570F1B"/>
                          </a:solidFill>
                          <a:latin typeface="Carlito"/>
                          <a:cs typeface="Carlito"/>
                          <a:ea typeface="Carlito"/>
                        </a:rPr>
                        <a:t>ECO Delivery Products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8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Εκπομπές ανά αποστολή· πιστοποιητικά ECOv1/ECOv2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8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Πολλές φορές/ημέρα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80" b="1" i="0">
                          <a:solidFill>
                            <a:srgbClr val="570F1B"/>
                          </a:solidFill>
                          <a:latin typeface="Carlito"/>
                          <a:cs typeface="Carlito"/>
                          <a:ea typeface="Carlito"/>
                        </a:rPr>
                        <a:t>Regional Product Mgmt</a:t>
                      </a:r>
                    </a:p>
                  </a:txBody>
                  <a:tcPr marL="109728" marR="73152" marT="27432" marB="27432" anchor="ctr">
                    <a:solidFill>
                      <a:srgbClr val="ECE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8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Συγκεντρωτικά δεδομένα &amp; τάσεις ανά περιοχή</a:t>
                      </a:r>
                    </a:p>
                  </a:txBody>
                  <a:tcPr marL="109728" marR="73152" marT="27432" marB="27432" anchor="ctr">
                    <a:solidFill>
                      <a:srgbClr val="ECE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8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Εβδομαδιαία/μηνιαία</a:t>
                      </a:r>
                    </a:p>
                  </a:txBody>
                  <a:tcPr marL="109728" marR="73152" marT="27432" marB="27432" anchor="ctr">
                    <a:solidFill>
                      <a:srgbClr val="ECE4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80" b="1" i="0">
                          <a:solidFill>
                            <a:srgbClr val="570F1B"/>
                          </a:solidFill>
                          <a:latin typeface="Carlito"/>
                          <a:cs typeface="Carlito"/>
                          <a:ea typeface="Carlito"/>
                        </a:rPr>
                        <a:t>Commercial Sustainability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8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Επαληθεύσιμα στοιχεία για ESG / CSRD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8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Τριμηνιαία/ετήσια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80" b="1" i="0">
                          <a:solidFill>
                            <a:srgbClr val="570F1B"/>
                          </a:solidFill>
                          <a:latin typeface="Carlito"/>
                          <a:cs typeface="Carlito"/>
                          <a:ea typeface="Carlito"/>
                        </a:rPr>
                        <a:t>Regional Sales</a:t>
                      </a:r>
                    </a:p>
                  </a:txBody>
                  <a:tcPr marL="109728" marR="73152" marT="27432" marB="27432" anchor="ctr">
                    <a:solidFill>
                      <a:srgbClr val="ECE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8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Γρήγορη πρόσβαση για ζωντανές διαπραγματεύσεις</a:t>
                      </a:r>
                    </a:p>
                  </a:txBody>
                  <a:tcPr marL="109728" marR="73152" marT="27432" marB="27432" anchor="ctr">
                    <a:solidFill>
                      <a:srgbClr val="ECE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8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Ad hoc, υψηλή πίεση</a:t>
                      </a:r>
                    </a:p>
                  </a:txBody>
                  <a:tcPr marL="109728" marR="73152" marT="27432" marB="27432" anchor="ctr">
                    <a:solidFill>
                      <a:srgbClr val="ECE4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80" b="1" i="0">
                          <a:solidFill>
                            <a:srgbClr val="570F1B"/>
                          </a:solidFill>
                          <a:latin typeface="Carlito"/>
                          <a:cs typeface="Carlito"/>
                          <a:ea typeface="Carlito"/>
                        </a:rPr>
                        <a:t>Contract Management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8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Audit-ready απόδειξη συμβατικών δεσμεύσεων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8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Ανά σύμβαση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80" b="1" i="0">
                          <a:solidFill>
                            <a:srgbClr val="570F1B"/>
                          </a:solidFill>
                          <a:latin typeface="Carlito"/>
                          <a:cs typeface="Carlito"/>
                          <a:ea typeface="Carlito"/>
                        </a:rPr>
                        <a:t>Account Managers</a:t>
                      </a:r>
                    </a:p>
                  </a:txBody>
                  <a:tcPr marL="109728" marR="73152" marT="27432" marB="27432" anchor="ctr">
                    <a:solidFill>
                      <a:srgbClr val="ECE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8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Εκπομπές πελάτη σε πραγματικό χρόνο</a:t>
                      </a:r>
                    </a:p>
                  </a:txBody>
                  <a:tcPr marL="109728" marR="73152" marT="27432" marB="27432" anchor="ctr">
                    <a:solidFill>
                      <a:srgbClr val="ECE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8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Ad hoc, real-time</a:t>
                      </a:r>
                    </a:p>
                  </a:txBody>
                  <a:tcPr marL="109728" marR="73152" marT="27432" marB="27432" anchor="ctr">
                    <a:solidFill>
                      <a:srgbClr val="ECE4D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26679" y="1892808"/>
            <a:ext cx="3977639" cy="3977639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892808"/>
            <a:ext cx="109728" cy="3977639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7575" y="2121408"/>
            <a:ext cx="3520440" cy="3657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000"/>
              </a:spcAft>
              <a:buNone/>
            </a:pPr>
            <a:r>
              <a:rPr sz="1500" b="1" i="0">
                <a:solidFill>
                  <a:srgbClr val="7A1626"/>
                </a:solidFill>
                <a:latin typeface="Caladea"/>
                <a:cs typeface="Caladea"/>
                <a:ea typeface="Caladea"/>
              </a:rPr>
              <a:t>Λειτουργίες που προκύπτουν</a:t>
            </a:r>
          </a:p>
          <a:p>
            <a:pPr algn="l" indent="-201168" marL="201168">
              <a:lnSpc>
                <a:spcPct val="105000"/>
              </a:lnSpc>
              <a:spcAft>
                <a:spcPts val="700"/>
              </a:spcAft>
              <a:buFont typeface="Arial" pitchFamily="34" charset="0"/>
              <a:buChar char="▪"/>
            </a:pP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Αναζήτηση εκπομπών ανά πελάτη &amp; χρονικό εύρος</a:t>
            </a:r>
          </a:p>
          <a:p>
            <a:pPr algn="l" indent="-201168" marL="201168">
              <a:lnSpc>
                <a:spcPct val="105000"/>
              </a:lnSpc>
              <a:spcAft>
                <a:spcPts val="700"/>
              </a:spcAft>
              <a:buFont typeface="Arial" pitchFamily="34" charset="0"/>
              <a:buChar char="▪"/>
            </a:pP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Ανάλυση ανά αποστολή / δρομολόγιο</a:t>
            </a:r>
          </a:p>
          <a:p>
            <a:pPr algn="l" indent="-201168" marL="201168">
              <a:lnSpc>
                <a:spcPct val="105000"/>
              </a:lnSpc>
              <a:spcAft>
                <a:spcPts val="700"/>
              </a:spcAft>
              <a:buFont typeface="Arial" pitchFamily="34" charset="0"/>
              <a:buChar char="▪"/>
            </a:pP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Εξαγωγή δεδομένων σε Excel</a:t>
            </a:r>
          </a:p>
          <a:p>
            <a:pPr algn="l" indent="-201168" marL="201168">
              <a:lnSpc>
                <a:spcPct val="105000"/>
              </a:lnSpc>
              <a:spcAft>
                <a:spcPts val="700"/>
              </a:spcAft>
              <a:buFont typeface="Arial" pitchFamily="34" charset="0"/>
              <a:buChar char="▪"/>
            </a:pP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Αυτόματη έκδοση πιστοποιητικών (PDF)</a:t>
            </a:r>
          </a:p>
          <a:p>
            <a:pPr algn="l" indent="-201168" marL="201168">
              <a:lnSpc>
                <a:spcPct val="105000"/>
              </a:lnSpc>
              <a:buFont typeface="Arial" pitchFamily="34" charset="0"/>
              <a:buChar char="▪"/>
            </a:pP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Self-service, χωρίς μεσολάβηση ομάδας αναφορών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Πάγκος Εργασίας Εκπομπών · Διπλωματική Εργασία, Κ. Γκίνης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C29B52"/>
                </a:solidFill>
                <a:latin typeface="Carlito"/>
                <a:cs typeface="Carlito"/>
                <a:ea typeface="Carlito"/>
              </a:rPr>
              <a:t>ΠΡΟΔΙΑΓΡΑΦΕΣ · 2/2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FFFFFF"/>
                </a:solidFill>
                <a:latin typeface="Caladea"/>
                <a:cs typeface="Caladea"/>
                <a:ea typeface="Caladea"/>
              </a:rPr>
              <a:t>Μη-λειτουργικές &amp; τεχνικές απαιτήσεις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4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Οι ανάγκες των χρηστών και τα ευρήματα GIA ορίζουν πώς πρέπει να συμπεριφέρεται το σύστημα: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47088"/>
            <a:ext cx="2697480" cy="1207008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47088"/>
            <a:ext cx="91440" cy="120700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975104"/>
            <a:ext cx="2331720" cy="10241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Ιχνηλασιμότητα</a:t>
            </a:r>
          </a:p>
          <a:p>
            <a:pPr algn="l">
              <a:lnSpc>
                <a:spcPct val="105000"/>
              </a:lnSpc>
              <a:buNone/>
            </a:pPr>
            <a:r>
              <a:rPr sz="118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Πλήρης διαδρομή δεδομένων από την πηγή έως κάθε αναφορά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6704" y="1847088"/>
            <a:ext cx="2697480" cy="1207008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6704" y="1847088"/>
            <a:ext cx="91440" cy="120700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1975104"/>
            <a:ext cx="2331720" cy="10241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Αμετάβλητο audit trail</a:t>
            </a:r>
          </a:p>
          <a:p>
            <a:pPr algn="l">
              <a:lnSpc>
                <a:spcPct val="105000"/>
              </a:lnSpc>
              <a:buNone/>
            </a:pPr>
            <a:r>
              <a:rPr sz="118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Καταγραφή κάθε αλλαγής, ανεξάρτητα επαληθεύσιμη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847088"/>
            <a:ext cx="2697480" cy="1207008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1847088"/>
            <a:ext cx="91440" cy="120700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1975104"/>
            <a:ext cx="2331720" cy="10241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Δεδομένα πραγματικού χρόνου</a:t>
            </a:r>
          </a:p>
          <a:p>
            <a:pPr algn="l">
              <a:lnSpc>
                <a:spcPct val="105000"/>
              </a:lnSpc>
              <a:buNone/>
            </a:pPr>
            <a:r>
              <a:rPr sz="118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Freshness σε ώρες αντί για εβδομάδες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4272" y="1847088"/>
            <a:ext cx="2697480" cy="1207008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34272" y="1847088"/>
            <a:ext cx="91440" cy="120700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2016" y="1975104"/>
            <a:ext cx="2331720" cy="10241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Κλιμακωσιμότητα</a:t>
            </a:r>
          </a:p>
          <a:p>
            <a:pPr algn="l">
              <a:lnSpc>
                <a:spcPct val="105000"/>
              </a:lnSpc>
              <a:buNone/>
            </a:pPr>
            <a:r>
              <a:rPr sz="118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1.300+ χρήστες, αυξανόμενος όγκος αιτημάτων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00400"/>
            <a:ext cx="2697480" cy="1207008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200400"/>
            <a:ext cx="91440" cy="120700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328416"/>
            <a:ext cx="2331720" cy="10241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Υψηλή διαθεσιμότητα</a:t>
            </a:r>
          </a:p>
          <a:p>
            <a:pPr algn="l">
              <a:lnSpc>
                <a:spcPct val="105000"/>
              </a:lnSpc>
              <a:buNone/>
            </a:pPr>
            <a:r>
              <a:rPr sz="118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Production-grade, χωρίς διακοπές υπηρεσίας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46704" y="3200400"/>
            <a:ext cx="2697480" cy="1207008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46704" y="3200400"/>
            <a:ext cx="91440" cy="120700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4448" y="3328416"/>
            <a:ext cx="2331720" cy="10241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Επαληθευσιμότητα &amp; συμμόρφωση</a:t>
            </a:r>
          </a:p>
          <a:p>
            <a:pPr algn="l">
              <a:lnSpc>
                <a:spcPct val="105000"/>
              </a:lnSpc>
              <a:buNone/>
            </a:pPr>
            <a:r>
              <a:rPr sz="118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Έτοιμο για CSRD, EU ETS, ISCC, CDP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200400"/>
            <a:ext cx="2697480" cy="1207008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0488" y="3200400"/>
            <a:ext cx="91440" cy="120700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3328416"/>
            <a:ext cx="2331720" cy="10241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Αυτοματοποίηση</a:t>
            </a:r>
          </a:p>
          <a:p>
            <a:pPr algn="l">
              <a:lnSpc>
                <a:spcPct val="105000"/>
              </a:lnSpc>
              <a:buNone/>
            </a:pPr>
            <a:r>
              <a:rPr sz="118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Πιστοποιητικά χωρίς ανθρώπινη παρέμβαση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34272" y="3200400"/>
            <a:ext cx="2697480" cy="1207008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34272" y="3200400"/>
            <a:ext cx="91440" cy="120700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72016" y="3328416"/>
            <a:ext cx="2331720" cy="10241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Ασφάλεια &amp; εξουσιοδότηση</a:t>
            </a:r>
          </a:p>
          <a:p>
            <a:pPr algn="l">
              <a:lnSpc>
                <a:spcPct val="105000"/>
              </a:lnSpc>
              <a:buNone/>
            </a:pPr>
            <a:r>
              <a:rPr sz="118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Πρόσβαση μόνο με εταιρικά δικαιώματα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626864"/>
            <a:ext cx="11155680" cy="566928"/>
          </a:xfrm>
          <a:prstGeom prst="roundRect">
            <a:avLst/>
          </a:prstGeom>
          <a:solidFill>
            <a:srgbClr val="E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626864"/>
            <a:ext cx="1060704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7A1626"/>
                </a:solidFill>
                <a:latin typeface="Carlito"/>
                <a:cs typeface="Carlito"/>
                <a:ea typeface="Carlito"/>
              </a:rPr>
              <a:t>Τεχνική απάντηση:  </a:t>
            </a:r>
            <a:r>
              <a:rPr sz="13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event-driven αρχιτεκτονική · event sourcing για το audit trail · Phoenix LiveView για real-time · BEAM/Elixir για διαθεσιμότητα.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Πάγκος Εργασίας Εκπομπών · Διπλωματική Εργασία, Κ. Γκίνης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C29B52"/>
                </a:solidFill>
                <a:latin typeface="Carlito"/>
                <a:cs typeface="Carlito"/>
                <a:ea typeface="Carlito"/>
              </a:rPr>
              <a:t>Η ΛΥΣΗ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FFFFFF"/>
                </a:solidFill>
                <a:latin typeface="Caladea"/>
                <a:cs typeface="Caladea"/>
                <a:ea typeface="Caladea"/>
              </a:rPr>
              <a:t>Emissions Workbench: τέσσερις πυλώνες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5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Μία πλατφόρμα </a:t>
            </a:r>
            <a:r>
              <a:rPr sz="1300" b="0" i="1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(emissions-workbench.maersk.com)</a:t>
            </a:r>
            <a:r>
              <a:rPr sz="15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, σε ένα monorepo, με κοινή ροή δεδομένων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92808"/>
            <a:ext cx="2670048" cy="2606040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>
            <a:off x="502920" y="1892808"/>
            <a:ext cx="2670048" cy="731520"/>
          </a:xfrm>
          <a:prstGeom prst="round2Same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892808"/>
            <a:ext cx="2340864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Caladea"/>
                <a:cs typeface="Caladea"/>
                <a:ea typeface="Caladea"/>
              </a:rPr>
              <a:t>Ocean Emissions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788920"/>
            <a:ext cx="2231136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4000"/>
              </a:lnSpc>
              <a:buNone/>
            </a:pP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Αυτόματη μέτρηση εκπομπών ανά αποστολή από τηλεμετρία στόλου (STAR Connect), με EU 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1892808"/>
            <a:ext cx="2670048" cy="2606040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3319272" y="1892808"/>
            <a:ext cx="2670048" cy="731520"/>
          </a:xfrm>
          <a:prstGeom prst="round2Same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4" y="1892808"/>
            <a:ext cx="2340864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Caladea"/>
                <a:cs typeface="Caladea"/>
                <a:ea typeface="Caladea"/>
              </a:rPr>
              <a:t>ECO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2788920"/>
            <a:ext cx="2231136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4000"/>
              </a:lnSpc>
              <a:buNone/>
            </a:pP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Εμπορικά προϊόντα χαμηλού άνθρακα, αυτόματα πιστοποιητικά, Energy Bank (mass balance)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1892808"/>
            <a:ext cx="2670048" cy="2606040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6135624" y="1892808"/>
            <a:ext cx="2670048" cy="731520"/>
          </a:xfrm>
          <a:prstGeom prst="round2Same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892808"/>
            <a:ext cx="2340864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Caladea"/>
                <a:cs typeface="Caladea"/>
                <a:ea typeface="Caladea"/>
              </a:rPr>
              <a:t>Net Zero 2040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788920"/>
            <a:ext cx="2231136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4000"/>
              </a:lnSpc>
              <a:buNone/>
            </a:pP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Εσωτερικοί πίνακες για οδικούς χάρτες αποκαρβονοποίησης &amp; δεσμεύσεις SBTi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892808"/>
            <a:ext cx="2670048" cy="2606040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951976" y="1892808"/>
            <a:ext cx="2670048" cy="731520"/>
          </a:xfrm>
          <a:prstGeom prst="round2Same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8" y="1892808"/>
            <a:ext cx="2340864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500" b="1" i="0">
                <a:solidFill>
                  <a:srgbClr val="FFFFFF"/>
                </a:solidFill>
                <a:latin typeface="Caladea"/>
                <a:cs typeface="Caladea"/>
                <a:ea typeface="Caladea"/>
              </a:rPr>
              <a:t>Bunker Optimization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788920"/>
            <a:ext cx="2231136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4000"/>
              </a:lnSpc>
              <a:buNone/>
            </a:pP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Βελτιστοποίηση πλάνων ανεφοδιασμού για ελάχιστο κόστος καυσίμου σε περιβάλλον 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718304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050" b="1" i="0">
                <a:solidFill>
                  <a:srgbClr val="7A1626"/>
                </a:solidFill>
                <a:latin typeface="Carlito"/>
                <a:cs typeface="Carlito"/>
                <a:ea typeface="Carlito"/>
              </a:rPr>
              <a:t>ΡΟΗ ΔΕΔΟΜΕΝΩΝ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754880"/>
            <a:ext cx="2240280" cy="457200"/>
          </a:xfrm>
          <a:prstGeom prst="roundRect">
            <a:avLst/>
          </a:prstGeom>
          <a:solidFill>
            <a:srgbClr val="E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754880"/>
            <a:ext cx="214884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150" b="1" i="0">
                <a:solidFill>
                  <a:srgbClr val="570F1B"/>
                </a:solidFill>
                <a:latin typeface="Carlito"/>
                <a:cs typeface="Carlito"/>
                <a:ea typeface="Carlito"/>
              </a:rPr>
              <a:t>Ocean Emissions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340096"/>
            <a:ext cx="2240280" cy="457200"/>
          </a:xfrm>
          <a:prstGeom prst="roundRect">
            <a:avLst/>
          </a:prstGeom>
          <a:solidFill>
            <a:srgbClr val="E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340096"/>
            <a:ext cx="214884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150" b="1" i="0">
                <a:solidFill>
                  <a:srgbClr val="570F1B"/>
                </a:solidFill>
                <a:latin typeface="Carlito"/>
                <a:cs typeface="Carlito"/>
                <a:ea typeface="Carlito"/>
              </a:rPr>
              <a:t>Bunker Optimization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852928" y="5065776"/>
            <a:ext cx="457200" cy="256032"/>
          </a:xfrm>
          <a:prstGeom prst="rightArrow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19856" y="5047488"/>
            <a:ext cx="2286000" cy="457200"/>
          </a:xfrm>
          <a:prstGeom prst="round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5576" y="5047488"/>
            <a:ext cx="21945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50" b="1" i="0">
                <a:solidFill>
                  <a:srgbClr val="FFFFFF"/>
                </a:solidFill>
                <a:latin typeface="Carlito"/>
                <a:cs typeface="Carlito"/>
                <a:ea typeface="Carlito"/>
              </a:rPr>
              <a:t>Energy Bank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815584" y="5065776"/>
            <a:ext cx="457200" cy="256032"/>
          </a:xfrm>
          <a:prstGeom prst="rightArrow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82512" y="5047488"/>
            <a:ext cx="2468880" cy="457200"/>
          </a:xfrm>
          <a:prstGeom prst="round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2" y="5047488"/>
            <a:ext cx="237744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50" b="1" i="0">
                <a:solidFill>
                  <a:srgbClr val="3A2A05"/>
                </a:solidFill>
                <a:latin typeface="Carlito"/>
                <a:cs typeface="Carlito"/>
                <a:ea typeface="Carlito"/>
              </a:rPr>
              <a:t>Πιστοποιητικά ECO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88552" y="5029200"/>
            <a:ext cx="146304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επικοινωνία</a:t>
            </a:r>
          </a:p>
          <a:p>
            <a:pPr algn="l">
              <a:buNone/>
            </a:pPr>
            <a:r>
              <a:rPr sz="1000" b="0" i="1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μέσω Kafka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Πάγκος Εργασίας Εκπομπών · Διπλωματική Εργασία, Κ. Γκίνης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C29B52"/>
                </a:solidFill>
                <a:latin typeface="Carlito"/>
                <a:cs typeface="Carlito"/>
                <a:ea typeface="Carlito"/>
              </a:rPr>
              <a:t>ΤΕΧΝΙΚΗ ΕΠΙΣΚΟΠΗΣΗ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FFFFFF"/>
                </a:solidFill>
                <a:latin typeface="Caladea"/>
                <a:cs typeface="Caladea"/>
                <a:ea typeface="Caladea"/>
              </a:rPr>
              <a:t>Αρχιτεκτονική του συστήματος</a:t>
            </a:r>
          </a:p>
        </p:txBody>
      </p:sp>
      <p:pic>
        <p:nvPicPr>
          <p:cNvPr id="7" name="Picture 6" descr="system_overvie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97367"/>
            <a:ext cx="7772400" cy="437416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0" y="1298448"/>
            <a:ext cx="3291840" cy="4572000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0" y="1298448"/>
            <a:ext cx="109728" cy="4572000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23376" y="1572768"/>
            <a:ext cx="283464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sz="1600" b="1" i="0">
                <a:solidFill>
                  <a:srgbClr val="7A1626"/>
                </a:solidFill>
                <a:latin typeface="Caladea"/>
                <a:cs typeface="Caladea"/>
                <a:ea typeface="Caladea"/>
              </a:rPr>
              <a:t>Βασικές αρχές</a:t>
            </a:r>
          </a:p>
          <a:p>
            <a:pPr algn="l" indent="-201168" marL="201168">
              <a:spcAft>
                <a:spcPts val="100"/>
              </a:spcAft>
              <a:buFont typeface="Arial" pitchFamily="34" charset="0"/>
              <a:buChar char="▪"/>
            </a:pPr>
            <a:r>
              <a:rPr sz="1350" b="1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Clean Architecture</a:t>
            </a:r>
          </a:p>
          <a:p>
            <a:pPr algn="l" lvl="1">
              <a:spcAft>
                <a:spcPts val="900"/>
              </a:spcAft>
              <a:buNone/>
            </a:pPr>
            <a:r>
              <a:rPr sz="11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domain ανεξάρτητο από υποδομή</a:t>
            </a:r>
          </a:p>
          <a:p>
            <a:pPr algn="l" indent="-201168" marL="201168">
              <a:spcAft>
                <a:spcPts val="100"/>
              </a:spcAft>
              <a:buFont typeface="Arial" pitchFamily="34" charset="0"/>
              <a:buChar char="▪"/>
            </a:pPr>
            <a:r>
              <a:rPr sz="1350" b="1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Event-driven ingestion</a:t>
            </a:r>
          </a:p>
          <a:p>
            <a:pPr algn="l" lvl="1">
              <a:spcAft>
                <a:spcPts val="900"/>
              </a:spcAft>
              <a:buNone/>
            </a:pPr>
            <a:r>
              <a:rPr sz="11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Kafka + Oban workers</a:t>
            </a:r>
          </a:p>
          <a:p>
            <a:pPr algn="l" indent="-201168" marL="201168">
              <a:spcAft>
                <a:spcPts val="100"/>
              </a:spcAft>
              <a:buFont typeface="Arial" pitchFamily="34" charset="0"/>
              <a:buChar char="▪"/>
            </a:pPr>
            <a:r>
              <a:rPr sz="1350" b="1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Event Sourcing (Energy Bank)</a:t>
            </a:r>
          </a:p>
          <a:p>
            <a:pPr algn="l" lvl="1">
              <a:spcAft>
                <a:spcPts val="900"/>
              </a:spcAft>
              <a:buNone/>
            </a:pPr>
            <a:r>
              <a:rPr sz="11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πλήρες ιστορικό &amp; audit trail</a:t>
            </a:r>
          </a:p>
          <a:p>
            <a:pPr algn="l" indent="-201168" marL="201168">
              <a:spcAft>
                <a:spcPts val="100"/>
              </a:spcAft>
              <a:buFont typeface="Arial" pitchFamily="34" charset="0"/>
              <a:buChar char="▪"/>
            </a:pPr>
            <a:r>
              <a:rPr sz="1350" b="1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Real-time web (LiveView)</a:t>
            </a:r>
          </a:p>
          <a:p>
            <a:pPr algn="l" lvl="1">
              <a:spcAft>
                <a:spcPts val="900"/>
              </a:spcAft>
              <a:buNone/>
            </a:pPr>
            <a:r>
              <a:rPr sz="11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ενημέρωση χωρίς reload</a:t>
            </a:r>
          </a:p>
          <a:p>
            <a:pPr algn="l" indent="-201168" marL="201168">
              <a:spcAft>
                <a:spcPts val="100"/>
              </a:spcAft>
              <a:buFont typeface="Arial" pitchFamily="34" charset="0"/>
              <a:buChar char="▪"/>
            </a:pPr>
            <a:r>
              <a:rPr sz="1350" b="1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Azure / Kubernetes</a:t>
            </a:r>
          </a:p>
          <a:p>
            <a:pPr algn="l" lvl="1">
              <a:buNone/>
            </a:pPr>
            <a:r>
              <a:rPr sz="11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auto-scaling, IaC με Terraform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Πάγκος Εργασίας Εκπομπών · Διπλωματική Εργασία, Κ. Γκίνης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C29B52"/>
                </a:solidFill>
                <a:latin typeface="Carlito"/>
                <a:cs typeface="Carlito"/>
                <a:ea typeface="Carlito"/>
              </a:rPr>
              <a:t>Η ΠΛΑΤΦΟΡΜΑ ΣΤΗΝ ΠΡΑΞΗ · 1/3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FFFFFF"/>
                </a:solidFill>
                <a:latin typeface="Caladea"/>
                <a:cs typeface="Caladea"/>
                <a:ea typeface="Caladea"/>
              </a:rPr>
              <a:t>Αναζήτηση &amp; ανάλυση εκπομπών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6766560" cy="4572000"/>
          </a:xfrm>
          <a:prstGeom prst="rect">
            <a:avLst/>
          </a:prstGeom>
          <a:solidFill>
            <a:srgbClr val="F0EDE6"/>
          </a:solidFill>
          <a:ln w="19050">
            <a:solidFill>
              <a:srgbClr val="B9A57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6400800" cy="4572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300" b="1" i="0">
                <a:solidFill>
                  <a:srgbClr val="7A1626"/>
                </a:solidFill>
                <a:latin typeface="Carlito"/>
                <a:cs typeface="Carlito"/>
                <a:ea typeface="Carlito"/>
              </a:rPr>
              <a:t>▣  ΣΤΙΓΜΙΟΤΥΠΟ ΟΘΟΝΗΣ</a:t>
            </a:r>
          </a:p>
          <a:p>
            <a:pPr algn="ctr">
              <a:spcAft>
                <a:spcPts val="600"/>
              </a:spcAft>
              <a:buNone/>
            </a:pPr>
            <a:r>
              <a:rPr sz="1500" b="1" i="0">
                <a:solidFill>
                  <a:srgbClr val="232323"/>
                </a:solidFill>
                <a:latin typeface="Caladea"/>
                <a:cs typeface="Caladea"/>
                <a:ea typeface="Caladea"/>
              </a:rPr>
              <a:t>Οθόνη αναζήτησης + αποτελέσματα</a:t>
            </a:r>
          </a:p>
          <a:p>
            <a:pPr algn="ctr">
              <a:lnSpc>
                <a:spcPct val="105000"/>
              </a:lnSpc>
              <a:buNone/>
            </a:pPr>
            <a:r>
              <a:rPr sz="1150" b="0" i="1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Εισαγωγή customer code + χρονικό εύρος και ο πίνακας/γράφημα εκπομπών που επιστρέφεται (test data). Δείχνει το Self-service &amp; το real-time UI.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389888"/>
            <a:ext cx="4297680" cy="4389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rgbClr val="C29B52"/>
                </a:solidFill>
                <a:latin typeface="Carlito"/>
                <a:cs typeface="Carlito"/>
                <a:ea typeface="Carlito"/>
              </a:rPr>
              <a:t>Χαρακτηριστικό 1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  <a:buNone/>
            </a:pPr>
            <a:r>
              <a:rPr sz="18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Αναζήτηση δεδομένων εκπομπών</a:t>
            </a:r>
          </a:p>
          <a:p>
            <a:pPr algn="l" indent="-201168" marL="201168">
              <a:lnSpc>
                <a:spcPct val="108000"/>
              </a:lnSpc>
              <a:spcAft>
                <a:spcPts val="800"/>
              </a:spcAft>
              <a:buFont typeface="Arial" pitchFamily="34" charset="0"/>
              <a:buChar char="▪"/>
            </a:pPr>
            <a:r>
              <a:rPr sz="14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Customer code + χρονικό εύρος → άμεση ανάκτηση</a:t>
            </a:r>
          </a:p>
          <a:p>
            <a:pPr algn="l" indent="-201168" marL="201168">
              <a:lnSpc>
                <a:spcPct val="108000"/>
              </a:lnSpc>
              <a:spcAft>
                <a:spcPts val="800"/>
              </a:spcAft>
              <a:buFont typeface="Arial" pitchFamily="34" charset="0"/>
              <a:buChar char="▪"/>
            </a:pPr>
            <a:r>
              <a:rPr sz="14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Αντικαθιστά τη ροή email-και-αναμονής 3–8 εβδομάδων</a:t>
            </a:r>
          </a:p>
          <a:p>
            <a:pPr algn="l" indent="-201168" marL="201168">
              <a:lnSpc>
                <a:spcPct val="108000"/>
              </a:lnSpc>
              <a:spcAft>
                <a:spcPts val="1800"/>
              </a:spcAft>
              <a:buFont typeface="Arial" pitchFamily="34" charset="0"/>
              <a:buChar char="▪"/>
            </a:pPr>
            <a:r>
              <a:rPr sz="14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Polling από Dremio μέσω Oban → freshness σε ώρες</a:t>
            </a:r>
          </a:p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rgbClr val="C29B52"/>
                </a:solidFill>
                <a:latin typeface="Carlito"/>
                <a:cs typeface="Carlito"/>
                <a:ea typeface="Carlito"/>
              </a:rPr>
              <a:t>Χαρακτηριστικό 2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sz="18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Ανάλυση ανά αποστολή / δρομολόγιο</a:t>
            </a:r>
          </a:p>
          <a:p>
            <a:pPr algn="l" indent="-201168" marL="201168">
              <a:lnSpc>
                <a:spcPct val="108000"/>
              </a:lnSpc>
              <a:buFont typeface="Arial" pitchFamily="34" charset="0"/>
              <a:buChar char="▪"/>
            </a:pPr>
            <a:r>
              <a:rPr sz="14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Ποια δρομολόγια βαραίνουν το αποτύπωμα του πελάτη, βάση για ECO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Πάγκος Εργασίας Εκπομπών · Διπλωματική Εργασία, Κ. Γκίνης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C29B52"/>
                </a:solidFill>
                <a:latin typeface="Carlito"/>
                <a:cs typeface="Carlito"/>
                <a:ea typeface="Carlito"/>
              </a:rPr>
              <a:t>Η ΠΛΑΤΦΟΡΜΑ ΣΤΗΝ ΠΡΑΞΗ · 2/3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FFFFFF"/>
                </a:solidFill>
                <a:latin typeface="Caladea"/>
                <a:cs typeface="Caladea"/>
                <a:ea typeface="Caladea"/>
              </a:rPr>
              <a:t>Πιστοποιητικά &amp; εξαγωγή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5440680" cy="2103120"/>
          </a:xfrm>
          <a:prstGeom prst="rect">
            <a:avLst/>
          </a:prstGeom>
          <a:solidFill>
            <a:srgbClr val="F0EDE6"/>
          </a:solidFill>
          <a:ln w="19050">
            <a:solidFill>
              <a:srgbClr val="B9A57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5074920" cy="2103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300" b="1" i="0">
                <a:solidFill>
                  <a:srgbClr val="7A1626"/>
                </a:solidFill>
                <a:latin typeface="Carlito"/>
                <a:cs typeface="Carlito"/>
                <a:ea typeface="Carlito"/>
              </a:rPr>
              <a:t>▣  ΣΤΙΓΜΙΟΤΥΠΟ ΟΘΟΝΗΣ</a:t>
            </a:r>
          </a:p>
          <a:p>
            <a:pPr algn="ctr">
              <a:spcAft>
                <a:spcPts val="600"/>
              </a:spcAft>
              <a:buNone/>
            </a:pPr>
            <a:r>
              <a:rPr sz="1500" b="1" i="0">
                <a:solidFill>
                  <a:srgbClr val="232323"/>
                </a:solidFill>
                <a:latin typeface="Caladea"/>
                <a:cs typeface="Caladea"/>
                <a:ea typeface="Caladea"/>
              </a:rPr>
              <a:t>Δημιουργία πιστοποιητικού (Certificates)</a:t>
            </a:r>
          </a:p>
          <a:p>
            <a:pPr algn="ctr">
              <a:lnSpc>
                <a:spcPct val="105000"/>
              </a:lnSpc>
              <a:buNone/>
            </a:pPr>
            <a:r>
              <a:rPr sz="1150" b="0" i="1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Το εργαλείο Certificates με την πρόοδο των Oban workers που αντλούν από το Energy Bank (test data).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630168"/>
            <a:ext cx="5440680" cy="2103120"/>
          </a:xfrm>
          <a:prstGeom prst="rect">
            <a:avLst/>
          </a:prstGeom>
          <a:solidFill>
            <a:srgbClr val="F0EDE6"/>
          </a:solidFill>
          <a:ln w="19050">
            <a:solidFill>
              <a:srgbClr val="B9A57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630168"/>
            <a:ext cx="5074920" cy="2103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300" b="1" i="0">
                <a:solidFill>
                  <a:srgbClr val="7A1626"/>
                </a:solidFill>
                <a:latin typeface="Carlito"/>
                <a:cs typeface="Carlito"/>
                <a:ea typeface="Carlito"/>
              </a:rPr>
              <a:t>▣  ΣΤΙΓΜΙΟΤΥΠΟ ΟΘΟΝΗΣ</a:t>
            </a:r>
          </a:p>
          <a:p>
            <a:pPr algn="ctr">
              <a:spcAft>
                <a:spcPts val="600"/>
              </a:spcAft>
              <a:buNone/>
            </a:pPr>
            <a:r>
              <a:rPr sz="1500" b="1" i="0">
                <a:solidFill>
                  <a:srgbClr val="232323"/>
                </a:solidFill>
                <a:latin typeface="Caladea"/>
                <a:cs typeface="Caladea"/>
                <a:ea typeface="Caladea"/>
              </a:rPr>
              <a:t>Εξαγωγή σε Excel</a:t>
            </a:r>
          </a:p>
          <a:p>
            <a:pPr algn="ctr">
              <a:lnSpc>
                <a:spcPct val="105000"/>
              </a:lnSpc>
              <a:buNone/>
            </a:pPr>
            <a:r>
              <a:rPr sz="1150" b="0" i="1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Η οθόνη export: πλήρη δεδομένα αποστολών + emissions saving data για πελάτες ECO.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89888"/>
            <a:ext cx="5440680" cy="4343400"/>
          </a:xfrm>
          <a:prstGeom prst="rect">
            <a:avLst/>
          </a:prstGeom>
          <a:solidFill>
            <a:srgbClr val="F0EDE6"/>
          </a:solidFill>
          <a:ln w="19050">
            <a:solidFill>
              <a:srgbClr val="B9A57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89888"/>
            <a:ext cx="5074920" cy="4343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300" b="1" i="0">
                <a:solidFill>
                  <a:srgbClr val="7A1626"/>
                </a:solidFill>
                <a:latin typeface="Carlito"/>
                <a:cs typeface="Carlito"/>
                <a:ea typeface="Carlito"/>
              </a:rPr>
              <a:t>▣  ΣΤΙΓΜΙΟΤΥΠΟ ΟΘΟΝΗΣ</a:t>
            </a:r>
          </a:p>
          <a:p>
            <a:pPr algn="ctr">
              <a:spcAft>
                <a:spcPts val="600"/>
              </a:spcAft>
              <a:buNone/>
            </a:pPr>
            <a:r>
              <a:rPr sz="1500" b="1" i="0">
                <a:solidFill>
                  <a:srgbClr val="232323"/>
                </a:solidFill>
                <a:latin typeface="Caladea"/>
                <a:cs typeface="Caladea"/>
                <a:ea typeface="Caladea"/>
              </a:rPr>
              <a:t>Παραγόμενο πιστοποιητικό (PDF) + αναφορά</a:t>
            </a:r>
          </a:p>
          <a:p>
            <a:pPr algn="ctr">
              <a:lnSpc>
                <a:spcPct val="105000"/>
              </a:lnSpc>
              <a:buNone/>
            </a:pPr>
            <a:r>
              <a:rPr sz="1150" b="0" i="1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Το τελικό PDF πιστοποιητικό με τη συνοδευτική αναφορά μεθοδολογίας (ISCC / mass balance). Ολόκληρη η ροή εκτελείται αυτόματα, από εβδομάδες σε λεπτά.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Πάγκος Εργασίας Εκπομπών · Διπλωματική Εργασία, Κ. Γκίνης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C29B52"/>
                </a:solidFill>
                <a:latin typeface="Carlito"/>
                <a:cs typeface="Carlito"/>
                <a:ea typeface="Carlito"/>
              </a:rPr>
              <a:t>Η ΠΛΑΤΦΟΡΜΑ ΣΤΗΝ ΠΡΑΞΗ · 3/3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FFFFFF"/>
                </a:solidFill>
                <a:latin typeface="Caladea"/>
                <a:cs typeface="Caladea"/>
                <a:ea typeface="Caladea"/>
              </a:rPr>
              <a:t>Energy Bank &amp; Bunker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5440680" cy="4297680"/>
          </a:xfrm>
          <a:prstGeom prst="rect">
            <a:avLst/>
          </a:prstGeom>
          <a:solidFill>
            <a:srgbClr val="F0EDE6"/>
          </a:solidFill>
          <a:ln w="19050">
            <a:solidFill>
              <a:srgbClr val="B9A57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5074920" cy="4297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300" b="1" i="0">
                <a:solidFill>
                  <a:srgbClr val="7A1626"/>
                </a:solidFill>
                <a:latin typeface="Carlito"/>
                <a:cs typeface="Carlito"/>
                <a:ea typeface="Carlito"/>
              </a:rPr>
              <a:t>▣  ΣΤΙΓΜΙΟΤΥΠΟ ΟΘΟΝΗΣ</a:t>
            </a:r>
          </a:p>
          <a:p>
            <a:pPr algn="ctr">
              <a:spcAft>
                <a:spcPts val="600"/>
              </a:spcAft>
              <a:buNone/>
            </a:pPr>
            <a:r>
              <a:rPr sz="1500" b="1" i="0">
                <a:solidFill>
                  <a:srgbClr val="232323"/>
                </a:solidFill>
                <a:latin typeface="Caladea"/>
                <a:cs typeface="Caladea"/>
                <a:ea typeface="Caladea"/>
              </a:rPr>
              <a:t>Energy Bank: ισοζύγιο</a:t>
            </a:r>
          </a:p>
          <a:p>
            <a:pPr algn="ctr">
              <a:lnSpc>
                <a:spcPct val="105000"/>
              </a:lnSpc>
              <a:buNone/>
            </a:pPr>
            <a:r>
              <a:rPr sz="1150" b="0" i="1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Καταθέσεις/αναλήψεις βιώσιμου καυσίμου &amp; υπόλοιπα λογαριασμών (mass balance), ως event-sourced ledger.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1389888"/>
            <a:ext cx="5440680" cy="4297680"/>
          </a:xfrm>
          <a:prstGeom prst="rect">
            <a:avLst/>
          </a:prstGeom>
          <a:solidFill>
            <a:srgbClr val="F0EDE6"/>
          </a:solidFill>
          <a:ln w="19050">
            <a:solidFill>
              <a:srgbClr val="B9A57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389888"/>
            <a:ext cx="5074920" cy="4297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300" b="1" i="0">
                <a:solidFill>
                  <a:srgbClr val="7A1626"/>
                </a:solidFill>
                <a:latin typeface="Carlito"/>
                <a:cs typeface="Carlito"/>
                <a:ea typeface="Carlito"/>
              </a:rPr>
              <a:t>▣  ΣΤΙΓΜΙΟΤΥΠΟ ΟΘΟΝΗΣ</a:t>
            </a:r>
          </a:p>
          <a:p>
            <a:pPr algn="ctr">
              <a:spcAft>
                <a:spcPts val="600"/>
              </a:spcAft>
              <a:buNone/>
            </a:pPr>
            <a:r>
              <a:rPr sz="1500" b="1" i="0">
                <a:solidFill>
                  <a:srgbClr val="232323"/>
                </a:solidFill>
                <a:latin typeface="Caladea"/>
                <a:cs typeface="Caladea"/>
                <a:ea typeface="Caladea"/>
              </a:rPr>
              <a:t>Bunker Optimization: πλάνο</a:t>
            </a:r>
          </a:p>
          <a:p>
            <a:pPr algn="ctr">
              <a:lnSpc>
                <a:spcPct val="105000"/>
              </a:lnSpc>
              <a:buNone/>
            </a:pPr>
            <a:r>
              <a:rPr sz="1150" b="0" i="1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Αποτέλεσμα του solver: το βέλτιστο πλάνο ανεφοδιασμού ανά λιμάνι και δρομολόγιο (BOPS / BoW).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Πάγκος Εργασίας Εκπομπών · Διπλωματική Εργασία, Κ. Γκίνης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C29B52"/>
                </a:solidFill>
                <a:latin typeface="Carlito"/>
                <a:cs typeface="Carlito"/>
                <a:ea typeface="Carlito"/>
              </a:rPr>
              <a:t>ΘΕΩΡΗΤΙΚΟ ΥΠΟΒΑΘΡΟ (ΣΥΝΟΨΗ)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FFFFFF"/>
                </a:solidFill>
                <a:latin typeface="Caladea"/>
                <a:cs typeface="Caladea"/>
                <a:ea typeface="Caladea"/>
              </a:rPr>
              <a:t>Λογιστική εκπομπών: τα βασικά</a:t>
            </a:r>
          </a:p>
        </p:txBody>
      </p:sp>
      <p:pic>
        <p:nvPicPr>
          <p:cNvPr id="7" name="Picture 6" descr="Carbon_Accounting_Sco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45429"/>
            <a:ext cx="5669280" cy="36780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1435608"/>
            <a:ext cx="512064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sz="1600" b="1" i="0">
                <a:solidFill>
                  <a:srgbClr val="7A1626"/>
                </a:solidFill>
                <a:latin typeface="Caladea"/>
                <a:cs typeface="Caladea"/>
                <a:ea typeface="Caladea"/>
              </a:rPr>
              <a:t>Από τη θεωρία στον κώδικα</a:t>
            </a:r>
          </a:p>
          <a:p>
            <a:pPr algn="l" indent="-201168" marL="201168">
              <a:lnSpc>
                <a:spcPct val="105000"/>
              </a:lnSpc>
              <a:spcAft>
                <a:spcPts val="900"/>
              </a:spcAft>
              <a:buFont typeface="Arial" pitchFamily="34" charset="0"/>
              <a:buChar char="▪"/>
            </a:pPr>
            <a:r>
              <a:rPr sz="1400" b="1" i="0">
                <a:solidFill>
                  <a:srgbClr val="570F1B"/>
                </a:solidFill>
                <a:latin typeface="Carlito"/>
                <a:cs typeface="Carlito"/>
                <a:ea typeface="Carlito"/>
              </a:rPr>
              <a:t>Scope 1 / 2 / 3:  </a:t>
            </a: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Άμεσες · έμμεσες από ενέργεια · αλυσίδα αξίας</a:t>
            </a:r>
          </a:p>
          <a:p>
            <a:pPr algn="l" indent="-201168" marL="201168">
              <a:lnSpc>
                <a:spcPct val="105000"/>
              </a:lnSpc>
              <a:spcAft>
                <a:spcPts val="900"/>
              </a:spcAft>
              <a:buFont typeface="Arial" pitchFamily="34" charset="0"/>
              <a:buChar char="▪"/>
            </a:pPr>
            <a:r>
              <a:rPr sz="1400" b="1" i="0">
                <a:solidFill>
                  <a:srgbClr val="570F1B"/>
                </a:solidFill>
                <a:latin typeface="Carlito"/>
                <a:cs typeface="Carlito"/>
                <a:ea typeface="Carlito"/>
              </a:rPr>
              <a:t>TTW vs WTW:  </a:t>
            </a: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Όρια συστήματος: Tank-to-Wake vs Well-to-Wake</a:t>
            </a:r>
          </a:p>
          <a:p>
            <a:pPr algn="l" indent="-201168" marL="201168">
              <a:lnSpc>
                <a:spcPct val="105000"/>
              </a:lnSpc>
              <a:spcAft>
                <a:spcPts val="900"/>
              </a:spcAft>
              <a:buFont typeface="Arial" pitchFamily="34" charset="0"/>
              <a:buChar char="▪"/>
            </a:pPr>
            <a:r>
              <a:rPr sz="1400" b="1" i="0">
                <a:solidFill>
                  <a:srgbClr val="570F1B"/>
                </a:solidFill>
                <a:latin typeface="Carlito"/>
                <a:cs typeface="Carlito"/>
                <a:ea typeface="Carlito"/>
              </a:rPr>
              <a:t>Trade factors:  </a:t>
            </a: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Συντελεστές εμπορικής διαδρομής, ο πυρήνας του υπολογισμού</a:t>
            </a:r>
          </a:p>
          <a:p>
            <a:pPr algn="l" indent="-201168" marL="201168">
              <a:lnSpc>
                <a:spcPct val="105000"/>
              </a:lnSpc>
              <a:spcAft>
                <a:spcPts val="900"/>
              </a:spcAft>
              <a:buFont typeface="Arial" pitchFamily="34" charset="0"/>
              <a:buChar char="▪"/>
            </a:pPr>
            <a:r>
              <a:rPr sz="1400" b="1" i="0">
                <a:solidFill>
                  <a:srgbClr val="570F1B"/>
                </a:solidFill>
                <a:latin typeface="Carlito"/>
                <a:cs typeface="Carlito"/>
                <a:ea typeface="Carlito"/>
              </a:rPr>
              <a:t>Mass balance:  </a:t>
            </a: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Λογιστική σύνδεση βιώσιμου καυσίμου με αξιώσεις</a:t>
            </a:r>
          </a:p>
          <a:p>
            <a:pPr algn="l" indent="-201168" marL="201168">
              <a:lnSpc>
                <a:spcPct val="105000"/>
              </a:lnSpc>
              <a:spcAft>
                <a:spcPts val="900"/>
              </a:spcAft>
              <a:buFont typeface="Arial" pitchFamily="34" charset="0"/>
              <a:buChar char="▪"/>
            </a:pPr>
            <a:r>
              <a:rPr sz="1400" b="1" i="0">
                <a:solidFill>
                  <a:srgbClr val="570F1B"/>
                </a:solidFill>
                <a:latin typeface="Carlito"/>
                <a:cs typeface="Carlito"/>
                <a:ea typeface="Carlito"/>
              </a:rPr>
              <a:t>Book-and-claim:  </a:t>
            </a: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Αναφορά αποσυνδεδεμένη από τη φυσική ροή</a:t>
            </a:r>
          </a:p>
          <a:p>
            <a:pPr algn="l" indent="-201168" marL="201168">
              <a:lnSpc>
                <a:spcPct val="105000"/>
              </a:lnSpc>
              <a:spcAft>
                <a:spcPts val="900"/>
              </a:spcAft>
              <a:buFont typeface="Arial" pitchFamily="34" charset="0"/>
              <a:buChar char="▪"/>
            </a:pPr>
            <a:r>
              <a:rPr sz="1400" b="1" i="0">
                <a:solidFill>
                  <a:srgbClr val="570F1B"/>
                </a:solidFill>
                <a:latin typeface="Carlito"/>
                <a:cs typeface="Carlito"/>
                <a:ea typeface="Carlito"/>
              </a:rPr>
              <a:t>ISCC / GLEC / GHG Protocol:  </a:t>
            </a: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Τα πρότυπα πιστοποίησης &amp; μεθοδολογίας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Πάγκος Εργασίας Εκπομπών · Διπλωματική Εργασία, Κ. Γκίνης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C29B52"/>
                </a:solidFill>
                <a:latin typeface="Carlito"/>
                <a:cs typeface="Carlito"/>
                <a:ea typeface="Carlito"/>
              </a:rPr>
              <a:t>ΤΕΧΝΙΚΗ ΕΠΙΣΚΟΠΗΣΗ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FFFFFF"/>
                </a:solidFill>
                <a:latin typeface="Caladea"/>
                <a:cs typeface="Caladea"/>
                <a:ea typeface="Caladea"/>
              </a:rPr>
              <a:t>Τεχνολογίες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44168"/>
            <a:ext cx="3584448" cy="2148840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44168"/>
            <a:ext cx="3584448" cy="91440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-elix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053" y="1636776"/>
            <a:ext cx="2078181" cy="8686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2715768"/>
            <a:ext cx="3218688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7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BEAM / Elixir</a:t>
            </a:r>
          </a:p>
          <a:p>
            <a:pPr algn="ctr">
              <a:lnSpc>
                <a:spcPct val="105000"/>
              </a:lnSpc>
              <a:buNone/>
            </a:pPr>
            <a:r>
              <a:rPr sz="12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Υψηλή διαθεσιμότητα &amp; ταυτοχρονισμός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44168"/>
            <a:ext cx="3584448" cy="2148840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44168"/>
            <a:ext cx="3584448" cy="91440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-phoen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3749" y="1636776"/>
            <a:ext cx="1272309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80560" y="2715768"/>
            <a:ext cx="3218688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7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Phoenix LiveView</a:t>
            </a:r>
          </a:p>
          <a:p>
            <a:pPr algn="ctr">
              <a:lnSpc>
                <a:spcPct val="105000"/>
              </a:lnSpc>
              <a:buNone/>
            </a:pPr>
            <a:r>
              <a:rPr sz="12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Real-time web χωρίς reload σελίδας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44168"/>
            <a:ext cx="3584448" cy="2148840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344168"/>
            <a:ext cx="3584448" cy="91440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go-n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0324" y="1636776"/>
            <a:ext cx="868679" cy="86867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75320" y="2715768"/>
            <a:ext cx="3218688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7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Nix / Flakes</a:t>
            </a:r>
          </a:p>
          <a:p>
            <a:pPr algn="ctr">
              <a:lnSpc>
                <a:spcPct val="105000"/>
              </a:lnSpc>
              <a:buNone/>
            </a:pPr>
            <a:r>
              <a:rPr sz="12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Reproducible builds &amp; dev environments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85616"/>
            <a:ext cx="2651760" cy="1097280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85616"/>
            <a:ext cx="91440" cy="1097280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" y="3931920"/>
            <a:ext cx="22860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3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PostgreSQL / Ecto</a:t>
            </a:r>
          </a:p>
          <a:p>
            <a:pPr algn="l">
              <a:lnSpc>
                <a:spcPct val="102000"/>
              </a:lnSpc>
              <a:buNone/>
            </a:pPr>
            <a:r>
              <a:rPr sz="11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Σχεσιακή μονιμότητα δεδομένων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46704" y="3785616"/>
            <a:ext cx="2651760" cy="1097280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46704" y="3785616"/>
            <a:ext cx="91440" cy="1097280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3931920"/>
            <a:ext cx="22860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3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Apache Kafka</a:t>
            </a:r>
          </a:p>
          <a:p>
            <a:pPr algn="l">
              <a:lnSpc>
                <a:spcPct val="102000"/>
              </a:lnSpc>
              <a:buNone/>
            </a:pPr>
            <a:r>
              <a:rPr sz="11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Event-driven ροή μηνυμάτων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3785616"/>
            <a:ext cx="2651760" cy="1097280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0488" y="3785616"/>
            <a:ext cx="91440" cy="1097280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9944" y="3931920"/>
            <a:ext cx="22860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3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GitHub Actions</a:t>
            </a:r>
          </a:p>
          <a:p>
            <a:pPr algn="l">
              <a:lnSpc>
                <a:spcPct val="102000"/>
              </a:lnSpc>
              <a:buNone/>
            </a:pPr>
            <a:r>
              <a:rPr sz="11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CI/CD: αυτόματα builds &amp; deploys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34272" y="3785616"/>
            <a:ext cx="2651760" cy="1097280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34272" y="3785616"/>
            <a:ext cx="91440" cy="1097280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53728" y="3931920"/>
            <a:ext cx="22860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3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Azure · Kubernetes · Terraform</a:t>
            </a:r>
          </a:p>
          <a:p>
            <a:pPr algn="l">
              <a:lnSpc>
                <a:spcPct val="102000"/>
              </a:lnSpc>
              <a:buNone/>
            </a:pPr>
            <a:r>
              <a:rPr sz="11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Cloud, auto-scaling &amp; IaC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Πάγκος Εργασίας Εκπομπών · Διπλωματική Εργασία, Κ. Γκίνης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C29B52"/>
                </a:solidFill>
                <a:latin typeface="Carlito"/>
                <a:cs typeface="Carlito"/>
                <a:ea typeface="Carlito"/>
              </a:rPr>
              <a:t>ΤΕΧΝΙΚΗ ΕΠΙΣΚΟΠΗΣΗ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FFFFFF"/>
                </a:solidFill>
                <a:latin typeface="Caladea"/>
                <a:cs typeface="Caladea"/>
                <a:ea typeface="Caladea"/>
              </a:rPr>
              <a:t>Εκφραστικότητα: Elixir στην πράξη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70408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7A1626"/>
                </a:solidFill>
                <a:latin typeface="Carlito"/>
                <a:cs typeface="Carlito"/>
                <a:ea typeface="Carlito"/>
              </a:rPr>
              <a:t>Pattern matching σε πολλαπλές ρήτρες: επιλογή &amp; κανονικοποίηση μονάδων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91056"/>
            <a:ext cx="7040880" cy="1783080"/>
          </a:xfrm>
          <a:prstGeom prst="roundRect">
            <a:avLst/>
          </a:prstGeom>
          <a:solidFill>
            <a:srgbClr val="271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6675120" cy="1563624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>
              <a:lnSpc>
                <a:spcPct val="105000"/>
              </a:lnSpc>
              <a:buNone/>
            </a:pPr>
            <a:r>
              <a:rPr sz="1050" b="0" i="1">
                <a:solidFill>
                  <a:srgbClr val="9D90AB"/>
                </a:solidFill>
                <a:latin typeface="DejaVu Sans Mono"/>
                <a:cs typeface="DejaVu Sans Mono"/>
                <a:ea typeface="DejaVu Sans Mono"/>
              </a:rPr>
              <a:t># Το pattern matching επιλέγει τη ρήτρα και αποδομεί τα δεδομένα</a:t>
            </a:r>
          </a:p>
          <a:p>
            <a:pPr>
              <a:lnSpc>
                <a:spcPct val="105000"/>
              </a:lnSpc>
              <a:buNone/>
            </a:pPr>
            <a:r>
              <a:rPr sz="1050" b="0" i="0">
                <a:solidFill>
                  <a:srgbClr val="ECE6F0"/>
                </a:solidFill>
                <a:latin typeface="DejaVu Sans Mono"/>
                <a:cs typeface="DejaVu Sans Mono"/>
                <a:ea typeface="DejaVu Sans Mono"/>
              </a:rPr>
              <a:t>def calculate(:diesel,</a:t>
            </a:r>
          </a:p>
          <a:p>
            <a:pPr>
              <a:lnSpc>
                <a:spcPct val="105000"/>
              </a:lnSpc>
              <a:buNone/>
            </a:pPr>
            <a:r>
              <a:rPr sz="1050" b="0" i="0">
                <a:solidFill>
                  <a:srgbClr val="ECE6F0"/>
                </a:solidFill>
                <a:latin typeface="DejaVu Sans Mono"/>
                <a:cs typeface="DejaVu Sans Mono"/>
                <a:ea typeface="DejaVu Sans Mono"/>
              </a:rPr>
              <a:t>      %{energy_ttw: %Measurement{unit: :megajoules} = e} = a),</a:t>
            </a:r>
          </a:p>
          <a:p>
            <a:pPr>
              <a:lnSpc>
                <a:spcPct val="105000"/>
              </a:lnSpc>
              <a:buNone/>
            </a:pPr>
            <a:r>
              <a:rPr sz="1050" b="0" i="0">
                <a:solidFill>
                  <a:srgbClr val="ECE6F0"/>
                </a:solidFill>
                <a:latin typeface="DejaVu Sans Mono"/>
                <a:cs typeface="DejaVu Sans Mono"/>
                <a:ea typeface="DejaVu Sans Mono"/>
              </a:rPr>
              <a:t>  do: calculate(:diesel, %{a | energy_ttw: convert(e, :kwh)})</a:t>
            </a:r>
          </a:p>
          <a:p>
            <a:pPr>
              <a:lnSpc>
                <a:spcPct val="105000"/>
              </a:lnSpc>
              <a:buNone/>
            </a:pPr>
            <a:r>
              <a:rPr sz="1050" b="0" i="0">
                <a:solidFill>
                  <a:srgbClr val="ECE6F0"/>
                </a:solidFill>
                <a:latin typeface="DejaVu Sans Mono"/>
                <a:cs typeface="DejaVu Sans Mono"/>
                <a:ea typeface="DejaVu Sans Mono"/>
              </a:rPr>
              <a:t> </a:t>
            </a:r>
          </a:p>
          <a:p>
            <a:pPr>
              <a:lnSpc>
                <a:spcPct val="105000"/>
              </a:lnSpc>
              <a:buNone/>
            </a:pPr>
            <a:r>
              <a:rPr sz="1050" b="0" i="0">
                <a:solidFill>
                  <a:srgbClr val="ECE6F0"/>
                </a:solidFill>
                <a:latin typeface="DejaVu Sans Mono"/>
                <a:cs typeface="DejaVu Sans Mono"/>
                <a:ea typeface="DejaVu Sans Mono"/>
              </a:rPr>
              <a:t>def calculate(:diesel,</a:t>
            </a:r>
          </a:p>
          <a:p>
            <a:pPr>
              <a:lnSpc>
                <a:spcPct val="105000"/>
              </a:lnSpc>
              <a:buNone/>
            </a:pPr>
            <a:r>
              <a:rPr sz="1050" b="0" i="0">
                <a:solidFill>
                  <a:srgbClr val="ECE6F0"/>
                </a:solidFill>
                <a:latin typeface="DejaVu Sans Mono"/>
                <a:cs typeface="DejaVu Sans Mono"/>
                <a:ea typeface="DejaVu Sans Mono"/>
              </a:rPr>
              <a:t>      %{energy_ttw: %Measurement{unit: :kwh}} = args) do</a:t>
            </a:r>
          </a:p>
          <a:p>
            <a:pPr>
              <a:lnSpc>
                <a:spcPct val="105000"/>
              </a:lnSpc>
              <a:buNone/>
            </a:pPr>
            <a:r>
              <a:rPr sz="1050" b="0" i="1">
                <a:solidFill>
                  <a:srgbClr val="9D90AB"/>
                </a:solidFill>
                <a:latin typeface="DejaVu Sans Mono"/>
                <a:cs typeface="DejaVu Sans Mono"/>
                <a:ea typeface="DejaVu Sans Mono"/>
              </a:rPr>
              <a:t>  # ... ο καθαρός υπολογισμός CO₂e</a:t>
            </a:r>
          </a:p>
          <a:p>
            <a:pPr>
              <a:lnSpc>
                <a:spcPct val="105000"/>
              </a:lnSpc>
              <a:buNone/>
            </a:pPr>
            <a:r>
              <a:rPr sz="1050" b="0" i="0">
                <a:solidFill>
                  <a:srgbClr val="ECE6F0"/>
                </a:solidFill>
                <a:latin typeface="DejaVu Sans Mono"/>
                <a:cs typeface="DejaVu Sans Mono"/>
                <a:ea typeface="DejaVu Sans Mono"/>
              </a:rPr>
              <a:t>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38728"/>
            <a:ext cx="70408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7A1626"/>
                </a:solidFill>
                <a:latin typeface="Carlito"/>
                <a:cs typeface="Carlito"/>
                <a:ea typeface="Carlito"/>
              </a:rPr>
              <a:t>Pipe operator |&gt;  &amp;  ερώτημα Ecto (πρόσβαση σε δεδομένα)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31336"/>
            <a:ext cx="7040880" cy="2331720"/>
          </a:xfrm>
          <a:prstGeom prst="roundRect">
            <a:avLst/>
          </a:prstGeom>
          <a:solidFill>
            <a:srgbClr val="271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941064"/>
            <a:ext cx="6675120" cy="2112264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>
              <a:lnSpc>
                <a:spcPct val="105000"/>
              </a:lnSpc>
              <a:buNone/>
            </a:pPr>
            <a:r>
              <a:rPr sz="1050" b="0" i="1">
                <a:solidFill>
                  <a:srgbClr val="9D90AB"/>
                </a:solidFill>
                <a:latin typeface="DejaVu Sans Mono"/>
                <a:cs typeface="DejaVu Sans Mono"/>
                <a:ea typeface="DejaVu Sans Mono"/>
              </a:rPr>
              <a:t># |&gt; : ροή μετασχηματισμών, αριστερά προς δεξιά</a:t>
            </a:r>
          </a:p>
          <a:p>
            <a:pPr>
              <a:lnSpc>
                <a:spcPct val="105000"/>
              </a:lnSpc>
              <a:buNone/>
            </a:pPr>
            <a:r>
              <a:rPr sz="1050" b="0" i="0">
                <a:solidFill>
                  <a:srgbClr val="ECE6F0"/>
                </a:solidFill>
                <a:latin typeface="DejaVu Sans Mono"/>
                <a:cs typeface="DejaVu Sans Mono"/>
                <a:ea typeface="DejaVu Sans Mono"/>
              </a:rPr>
              <a:t>kwh</a:t>
            </a:r>
          </a:p>
          <a:p>
            <a:pPr>
              <a:lnSpc>
                <a:spcPct val="105000"/>
              </a:lnSpc>
              <a:buNone/>
            </a:pPr>
            <a:r>
              <a:rPr sz="1050" b="0" i="0">
                <a:solidFill>
                  <a:srgbClr val="ECE6F0"/>
                </a:solidFill>
                <a:latin typeface="DejaVu Sans Mono"/>
                <a:cs typeface="DejaVu Sans Mono"/>
                <a:ea typeface="DejaVu Sans Mono"/>
              </a:rPr>
              <a:t>|&gt; Measurement.value!(:kwh)</a:t>
            </a:r>
          </a:p>
          <a:p>
            <a:pPr>
              <a:lnSpc>
                <a:spcPct val="105000"/>
              </a:lnSpc>
              <a:buNone/>
            </a:pPr>
            <a:r>
              <a:rPr sz="1050" b="0" i="0">
                <a:solidFill>
                  <a:srgbClr val="ECE6F0"/>
                </a:solidFill>
                <a:latin typeface="DejaVu Sans Mono"/>
                <a:cs typeface="DejaVu Sans Mono"/>
                <a:ea typeface="DejaVu Sans Mono"/>
              </a:rPr>
              <a:t>|&gt; Decimal.div(ratio_kwh_to_litres(ratio, factors))</a:t>
            </a:r>
          </a:p>
          <a:p>
            <a:pPr>
              <a:lnSpc>
                <a:spcPct val="105000"/>
              </a:lnSpc>
              <a:buNone/>
            </a:pPr>
            <a:r>
              <a:rPr sz="1050" b="0" i="0">
                <a:solidFill>
                  <a:srgbClr val="ECE6F0"/>
                </a:solidFill>
                <a:latin typeface="DejaVu Sans Mono"/>
                <a:cs typeface="DejaVu Sans Mono"/>
                <a:ea typeface="DejaVu Sans Mono"/>
              </a:rPr>
              <a:t>|&gt; Measurement.new(:litres)</a:t>
            </a:r>
          </a:p>
          <a:p>
            <a:pPr>
              <a:lnSpc>
                <a:spcPct val="105000"/>
              </a:lnSpc>
              <a:buNone/>
            </a:pPr>
            <a:r>
              <a:rPr sz="1050" b="0" i="0">
                <a:solidFill>
                  <a:srgbClr val="ECE6F0"/>
                </a:solidFill>
                <a:latin typeface="DejaVu Sans Mono"/>
                <a:cs typeface="DejaVu Sans Mono"/>
                <a:ea typeface="DejaVu Sans Mono"/>
              </a:rPr>
              <a:t> </a:t>
            </a:r>
          </a:p>
          <a:p>
            <a:pPr>
              <a:lnSpc>
                <a:spcPct val="105000"/>
              </a:lnSpc>
              <a:buNone/>
            </a:pPr>
            <a:r>
              <a:rPr sz="1050" b="0" i="1">
                <a:solidFill>
                  <a:srgbClr val="9D90AB"/>
                </a:solidFill>
                <a:latin typeface="DejaVu Sans Mono"/>
                <a:cs typeface="DejaVu Sans Mono"/>
                <a:ea typeface="DejaVu Sans Mono"/>
              </a:rPr>
              <a:t># Ecto: δηλωτικό, type-safe, συνθέσιμο ερώτημα</a:t>
            </a:r>
          </a:p>
          <a:p>
            <a:pPr>
              <a:lnSpc>
                <a:spcPct val="105000"/>
              </a:lnSpc>
              <a:buNone/>
            </a:pPr>
            <a:r>
              <a:rPr sz="1050" b="0" i="0">
                <a:solidFill>
                  <a:srgbClr val="ECE6F0"/>
                </a:solidFill>
                <a:latin typeface="DejaVu Sans Mono"/>
                <a:cs typeface="DejaVu Sans Mono"/>
                <a:ea typeface="DejaVu Sans Mono"/>
              </a:rPr>
              <a:t>from(f in RemainingFuelOnBoard,</a:t>
            </a:r>
          </a:p>
          <a:p>
            <a:pPr>
              <a:lnSpc>
                <a:spcPct val="105000"/>
              </a:lnSpc>
              <a:buNone/>
            </a:pPr>
            <a:r>
              <a:rPr sz="1050" b="0" i="0">
                <a:solidFill>
                  <a:srgbClr val="ECE6F0"/>
                </a:solidFill>
                <a:latin typeface="DejaVu Sans Mono"/>
                <a:cs typeface="DejaVu Sans Mono"/>
                <a:ea typeface="DejaVu Sans Mono"/>
              </a:rPr>
              <a:t>  where:  f.vessel_id == ^vessel_id,</a:t>
            </a:r>
          </a:p>
          <a:p>
            <a:pPr>
              <a:lnSpc>
                <a:spcPct val="105000"/>
              </a:lnSpc>
              <a:buNone/>
            </a:pPr>
            <a:r>
              <a:rPr sz="1050" b="0" i="0">
                <a:solidFill>
                  <a:srgbClr val="ECE6F0"/>
                </a:solidFill>
                <a:latin typeface="DejaVu Sans Mono"/>
                <a:cs typeface="DejaVu Sans Mono"/>
                <a:ea typeface="DejaVu Sans Mono"/>
              </a:rPr>
              <a:t>  select: max(f.updated_at))</a:t>
            </a:r>
          </a:p>
          <a:p>
            <a:pPr>
              <a:lnSpc>
                <a:spcPct val="105000"/>
              </a:lnSpc>
              <a:buNone/>
            </a:pPr>
            <a:r>
              <a:rPr sz="1050" b="0" i="0">
                <a:solidFill>
                  <a:srgbClr val="ECE6F0"/>
                </a:solidFill>
                <a:latin typeface="DejaVu Sans Mono"/>
                <a:cs typeface="DejaVu Sans Mono"/>
                <a:ea typeface="DejaVu Sans Mono"/>
              </a:rPr>
              <a:t>|&gt; Repo.one()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91056"/>
            <a:ext cx="3913632" cy="4572000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1591056"/>
            <a:ext cx="109728" cy="4572000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6" y="1847088"/>
            <a:ext cx="3364992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sz="1600" b="1" i="0">
                <a:solidFill>
                  <a:srgbClr val="7A1626"/>
                </a:solidFill>
                <a:latin typeface="Caladea"/>
                <a:cs typeface="Caladea"/>
                <a:ea typeface="Caladea"/>
              </a:rPr>
              <a:t>Γιατί λειτουργικός;</a:t>
            </a:r>
          </a:p>
          <a:p>
            <a:pPr algn="l" indent="-201168" marL="201168">
              <a:spcAft>
                <a:spcPts val="100"/>
              </a:spcAft>
              <a:buFont typeface="Arial" pitchFamily="34" charset="0"/>
              <a:buChar char="▪"/>
            </a:pPr>
            <a:r>
              <a:rPr sz="1350" b="1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Pattern matching</a:t>
            </a:r>
          </a:p>
          <a:p>
            <a:pPr algn="l" lvl="1">
              <a:spcAft>
                <a:spcPts val="1000"/>
              </a:spcAft>
              <a:buNone/>
            </a:pPr>
            <a:r>
              <a:rPr sz="118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επιλογή ρήτρας &amp; αποδόμηση δεδομένων, δηλωτικά, χωρίς if</a:t>
            </a:r>
          </a:p>
          <a:p>
            <a:pPr algn="l" indent="-201168" marL="201168">
              <a:spcAft>
                <a:spcPts val="100"/>
              </a:spcAft>
              <a:buFont typeface="Arial" pitchFamily="34" charset="0"/>
              <a:buChar char="▪"/>
            </a:pPr>
            <a:r>
              <a:rPr sz="1350" b="1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Pipe |&gt;</a:t>
            </a:r>
          </a:p>
          <a:p>
            <a:pPr algn="l" lvl="1">
              <a:spcAft>
                <a:spcPts val="1000"/>
              </a:spcAft>
              <a:buNone/>
            </a:pPr>
            <a:r>
              <a:rPr sz="118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αναγνώσιμη ροή, χωρίς ενδιάμεσες μεταβλητές</a:t>
            </a:r>
          </a:p>
          <a:p>
            <a:pPr algn="l" indent="-201168" marL="201168">
              <a:spcAft>
                <a:spcPts val="100"/>
              </a:spcAft>
              <a:buFont typeface="Arial" pitchFamily="34" charset="0"/>
              <a:buChar char="▪"/>
            </a:pPr>
            <a:r>
              <a:rPr sz="1350" b="1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Αμεταβλητότητα</a:t>
            </a:r>
          </a:p>
          <a:p>
            <a:pPr algn="l" lvl="1">
              <a:spcAft>
                <a:spcPts val="1000"/>
              </a:spcAft>
              <a:buNone/>
            </a:pPr>
            <a:r>
              <a:rPr sz="118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ασφάλεια στον ταυτοχρονισμό του BEAM</a:t>
            </a:r>
          </a:p>
          <a:p>
            <a:pPr algn="l" indent="-201168" marL="201168">
              <a:spcAft>
                <a:spcPts val="100"/>
              </a:spcAft>
              <a:buFont typeface="Arial" pitchFamily="34" charset="0"/>
              <a:buChar char="▪"/>
            </a:pPr>
            <a:r>
              <a:rPr sz="1350" b="1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Ecto</a:t>
            </a:r>
          </a:p>
          <a:p>
            <a:pPr algn="l" lvl="1">
              <a:buNone/>
            </a:pPr>
            <a:r>
              <a:rPr sz="118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συνθέσιμα, type-safe ερωτήματα προς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Πάγκος Εργασίας Εκπομπών · Διπλωματική Εργασία, Κ. Γκίνης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C29B52"/>
                </a:solidFill>
                <a:latin typeface="Carlito"/>
                <a:cs typeface="Carlito"/>
                <a:ea typeface="Carlito"/>
              </a:rPr>
              <a:t>ΕΡΓΑΣΙΑΚΕΣ ΜΕΘΟΔΟΙ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FFFFFF"/>
                </a:solidFill>
                <a:latin typeface="Caladea"/>
                <a:cs typeface="Caladea"/>
                <a:ea typeface="Caladea"/>
              </a:rPr>
              <a:t>Extreme Programming σε ομάδα 28 μελών</a:t>
            </a:r>
          </a:p>
        </p:txBody>
      </p:sp>
      <p:pic>
        <p:nvPicPr>
          <p:cNvPr id="7" name="Picture 6" descr="Extreme_Programming_Lo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98448"/>
            <a:ext cx="45720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0" y="1481328"/>
            <a:ext cx="603504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  <a:buNone/>
            </a:pPr>
            <a:r>
              <a:rPr sz="1550" b="1" i="0">
                <a:solidFill>
                  <a:srgbClr val="7A1626"/>
                </a:solidFill>
                <a:latin typeface="Caladea"/>
                <a:cs typeface="Caladea"/>
                <a:ea typeface="Caladea"/>
              </a:rPr>
              <a:t>Πρακτικές που έκαναν εφικτό τον κύκλο 6 μηνών</a:t>
            </a:r>
          </a:p>
          <a:p>
            <a:pPr algn="l" indent="-201168" marL="201168">
              <a:lnSpc>
                <a:spcPct val="105000"/>
              </a:lnSpc>
              <a:spcAft>
                <a:spcPts val="1100"/>
              </a:spcAft>
              <a:buFont typeface="Arial" pitchFamily="34" charset="0"/>
              <a:buChar char="▪"/>
            </a:pPr>
            <a:r>
              <a:rPr sz="1450" b="1" i="0">
                <a:solidFill>
                  <a:srgbClr val="570F1B"/>
                </a:solidFill>
                <a:latin typeface="Carlito"/>
                <a:cs typeface="Carlito"/>
                <a:ea typeface="Carlito"/>
              </a:rPr>
              <a:t>Pair programming:  </a:t>
            </a:r>
            <a:r>
              <a:rPr sz="13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συνεχής έλεγχος κώδικα &amp; μεταφορά γνώσης</a:t>
            </a:r>
          </a:p>
          <a:p>
            <a:pPr algn="l" indent="-201168" marL="201168">
              <a:lnSpc>
                <a:spcPct val="105000"/>
              </a:lnSpc>
              <a:spcAft>
                <a:spcPts val="1100"/>
              </a:spcAft>
              <a:buFont typeface="Arial" pitchFamily="34" charset="0"/>
              <a:buChar char="▪"/>
            </a:pPr>
            <a:r>
              <a:rPr sz="1450" b="1" i="0">
                <a:solidFill>
                  <a:srgbClr val="570F1B"/>
                </a:solidFill>
                <a:latin typeface="Carlito"/>
                <a:cs typeface="Carlito"/>
                <a:ea typeface="Carlito"/>
              </a:rPr>
              <a:t>TDD:  </a:t>
            </a:r>
            <a:r>
              <a:rPr sz="13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ανάπτυξη καθοδηγούμενη από δοκιμές, 80%+ κάλυψη</a:t>
            </a:r>
          </a:p>
          <a:p>
            <a:pPr algn="l" indent="-201168" marL="201168">
              <a:lnSpc>
                <a:spcPct val="105000"/>
              </a:lnSpc>
              <a:spcAft>
                <a:spcPts val="1100"/>
              </a:spcAft>
              <a:buFont typeface="Arial" pitchFamily="34" charset="0"/>
              <a:buChar char="▪"/>
            </a:pPr>
            <a:r>
              <a:rPr sz="1450" b="1" i="0">
                <a:solidFill>
                  <a:srgbClr val="570F1B"/>
                </a:solidFill>
                <a:latin typeface="Carlito"/>
                <a:cs typeface="Carlito"/>
                <a:ea typeface="Carlito"/>
              </a:rPr>
              <a:t>CI/CD:  </a:t>
            </a:r>
            <a:r>
              <a:rPr sz="13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trunk-based, ~32 αναπτύξεις/ημέρα</a:t>
            </a:r>
          </a:p>
          <a:p>
            <a:pPr algn="l" indent="-201168" marL="201168">
              <a:lnSpc>
                <a:spcPct val="105000"/>
              </a:lnSpc>
              <a:spcAft>
                <a:spcPts val="1100"/>
              </a:spcAft>
              <a:buFont typeface="Arial" pitchFamily="34" charset="0"/>
              <a:buChar char="▪"/>
            </a:pPr>
            <a:r>
              <a:rPr sz="1450" b="1" i="0">
                <a:solidFill>
                  <a:srgbClr val="570F1B"/>
                </a:solidFill>
                <a:latin typeface="Carlito"/>
                <a:cs typeface="Carlito"/>
                <a:ea typeface="Carlito"/>
              </a:rPr>
              <a:t>Vertical ownership:  </a:t>
            </a:r>
            <a:r>
              <a:rPr sz="13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κάθε μηχανικός: από τη βάση δεδομένων έως το UI</a:t>
            </a:r>
          </a:p>
          <a:p>
            <a:pPr algn="l" indent="-201168" marL="201168">
              <a:lnSpc>
                <a:spcPct val="105000"/>
              </a:lnSpc>
              <a:spcAft>
                <a:spcPts val="1100"/>
              </a:spcAft>
              <a:buFont typeface="Arial" pitchFamily="34" charset="0"/>
              <a:buChar char="▪"/>
            </a:pPr>
            <a:r>
              <a:rPr sz="1450" b="1" i="0">
                <a:solidFill>
                  <a:srgbClr val="570F1B"/>
                </a:solidFill>
                <a:latin typeface="Carlito"/>
                <a:cs typeface="Carlito"/>
                <a:ea typeface="Carlito"/>
              </a:rPr>
              <a:t>Feedback loops:  </a:t>
            </a:r>
            <a:r>
              <a:rPr sz="13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γρήγορη ανατροφοδότηση σε κάθε επίπεδο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Πάγκος Εργασίας Εκπομπών · Διπλωματική Εργασία, Κ. Γκίνης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C29B52"/>
                </a:solidFill>
                <a:latin typeface="Carlito"/>
                <a:cs typeface="Carlito"/>
                <a:ea typeface="Carlito"/>
              </a:rPr>
              <a:t>ΑΠΟΤΕΛΕΣΜΑΤΑ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FFFFFF"/>
                </a:solidFill>
                <a:latin typeface="Caladea"/>
                <a:cs typeface="Caladea"/>
                <a:ea typeface="Caladea"/>
              </a:rPr>
              <a:t>Μετρήσιμος αντίκτυπος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584448" cy="2240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3584448" cy="109728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73352"/>
            <a:ext cx="3127248" cy="1874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4400" b="1" i="0">
                <a:solidFill>
                  <a:srgbClr val="7A1626"/>
                </a:solidFill>
                <a:latin typeface="Caladea"/>
                <a:cs typeface="Caladea"/>
                <a:ea typeface="Caladea"/>
              </a:rPr>
              <a:t>1.300+</a:t>
            </a:r>
          </a:p>
          <a:p>
            <a:pPr algn="ctr">
              <a:spcAft>
                <a:spcPts val="400"/>
              </a:spcAft>
              <a:buNone/>
            </a:pPr>
            <a:r>
              <a:rPr sz="1600" b="1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ενεργοί χρήστες</a:t>
            </a:r>
          </a:p>
          <a:p>
            <a:pPr algn="ctr">
              <a:buNone/>
            </a:pPr>
            <a:r>
              <a:rPr sz="1200" b="0" i="1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από &lt;100 στην εποχή Excel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1417320"/>
            <a:ext cx="3584448" cy="2240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8536" y="1417320"/>
            <a:ext cx="3584448" cy="109728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673352"/>
            <a:ext cx="3127248" cy="1874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4400" b="1" i="0">
                <a:solidFill>
                  <a:srgbClr val="7A1626"/>
                </a:solidFill>
                <a:latin typeface="Caladea"/>
                <a:cs typeface="Caladea"/>
                <a:ea typeface="Caladea"/>
              </a:rPr>
              <a:t>$31 εκ.</a:t>
            </a:r>
          </a:p>
          <a:p>
            <a:pPr algn="ctr">
              <a:spcAft>
                <a:spcPts val="400"/>
              </a:spcAft>
              <a:buNone/>
            </a:pPr>
            <a:r>
              <a:rPr sz="1600" b="1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ECO Delivery 2024</a:t>
            </a:r>
          </a:p>
          <a:p>
            <a:pPr algn="ctr">
              <a:buNone/>
            </a:pPr>
            <a:r>
              <a:rPr sz="1200" b="0" i="1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98.000 FFE εμπορευμάτων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1417320"/>
            <a:ext cx="3584448" cy="2240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4152" y="1417320"/>
            <a:ext cx="3584448" cy="109728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673352"/>
            <a:ext cx="3127248" cy="1874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4400" b="1" i="0">
                <a:solidFill>
                  <a:srgbClr val="7A1626"/>
                </a:solidFill>
                <a:latin typeface="Caladea"/>
                <a:cs typeface="Caladea"/>
                <a:ea typeface="Caladea"/>
              </a:rPr>
              <a:t>6 μήνες</a:t>
            </a:r>
          </a:p>
          <a:p>
            <a:pPr algn="ctr">
              <a:spcAft>
                <a:spcPts val="400"/>
              </a:spcAft>
              <a:buNone/>
            </a:pPr>
            <a:r>
              <a:rPr sz="1600" b="1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έως παραγωγή</a:t>
            </a:r>
          </a:p>
          <a:p>
            <a:pPr algn="ctr">
              <a:buNone/>
            </a:pPr>
            <a:r>
              <a:rPr sz="1200" b="0" i="1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Μάρτιος → Σεπτέμβριος 2023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86200"/>
            <a:ext cx="3584448" cy="2240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3584448" cy="109728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42232"/>
            <a:ext cx="3127248" cy="1874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4400" b="1" i="0">
                <a:solidFill>
                  <a:srgbClr val="7A1626"/>
                </a:solidFill>
                <a:latin typeface="Caladea"/>
                <a:cs typeface="Caladea"/>
                <a:ea typeface="Caladea"/>
              </a:rPr>
              <a:t>~32</a:t>
            </a:r>
          </a:p>
          <a:p>
            <a:pPr algn="ctr">
              <a:spcAft>
                <a:spcPts val="400"/>
              </a:spcAft>
              <a:buNone/>
            </a:pPr>
            <a:r>
              <a:rPr sz="1600" b="1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αναπτύξεις / ημέρα</a:t>
            </a:r>
          </a:p>
          <a:p>
            <a:pPr algn="ctr">
              <a:buNone/>
            </a:pPr>
            <a:r>
              <a:rPr sz="1200" b="0" i="1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μία κάθε ~15 λεπτά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8536" y="3886200"/>
            <a:ext cx="3584448" cy="2240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8536" y="3886200"/>
            <a:ext cx="3584448" cy="109728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4142232"/>
            <a:ext cx="3127248" cy="1874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4400" b="1" i="0">
                <a:solidFill>
                  <a:srgbClr val="7A1626"/>
                </a:solidFill>
                <a:latin typeface="Caladea"/>
                <a:cs typeface="Caladea"/>
                <a:ea typeface="Caladea"/>
              </a:rPr>
              <a:t>720+</a:t>
            </a:r>
          </a:p>
          <a:p>
            <a:pPr algn="ctr">
              <a:spcAft>
                <a:spcPts val="400"/>
              </a:spcAft>
              <a:buNone/>
            </a:pPr>
            <a:r>
              <a:rPr sz="1600" b="1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schema migrations</a:t>
            </a:r>
          </a:p>
          <a:p>
            <a:pPr algn="ctr">
              <a:buNone/>
            </a:pPr>
            <a:r>
              <a:rPr sz="1200" b="0" i="1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χωρίς διακοπή υπηρεσίας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4152" y="3886200"/>
            <a:ext cx="3584448" cy="2240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74152" y="3886200"/>
            <a:ext cx="3584448" cy="109728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4142232"/>
            <a:ext cx="3127248" cy="1874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4400" b="1" i="0">
                <a:solidFill>
                  <a:srgbClr val="7A1626"/>
                </a:solidFill>
                <a:latin typeface="Caladea"/>
                <a:cs typeface="Caladea"/>
                <a:ea typeface="Caladea"/>
              </a:rPr>
              <a:t>100%</a:t>
            </a:r>
          </a:p>
          <a:p>
            <a:pPr algn="ctr">
              <a:spcAft>
                <a:spcPts val="400"/>
              </a:spcAft>
              <a:buNone/>
            </a:pPr>
            <a:r>
              <a:rPr sz="1600" b="1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ευρημάτων GIA</a:t>
            </a:r>
          </a:p>
          <a:p>
            <a:pPr algn="ctr">
              <a:buNone/>
            </a:pPr>
            <a:r>
              <a:rPr sz="1200" b="0" i="1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πλήρης αντιμετώπιση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950" b="0" i="0">
                <a:solidFill>
                  <a:srgbClr val="FFFFFF"/>
                </a:solidFill>
                <a:latin typeface="Carlito"/>
                <a:cs typeface="Carlito"/>
                <a:ea typeface="Carlito"/>
              </a:rPr>
              <a:t>Πάγκος Εργασίας Εκπομπών · Διπλωματική Εργασία, Κ. Γκίνης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buNone/>
            </a:pPr>
            <a:r>
              <a:rPr sz="950" b="0" i="0">
                <a:solidFill>
                  <a:srgbClr val="FFFFFF"/>
                </a:solidFill>
                <a:latin typeface="Carlito"/>
                <a:cs typeface="Carlito"/>
                <a:ea typeface="Carlito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C29B52"/>
                </a:solidFill>
                <a:latin typeface="Carlito"/>
                <a:cs typeface="Carlito"/>
                <a:ea typeface="Carlito"/>
              </a:rPr>
              <a:t>ΑΠΟΤΕΛΕΣΜΑΤΑ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FFFFFF"/>
                </a:solidFill>
                <a:latin typeface="Caladea"/>
                <a:cs typeface="Caladea"/>
                <a:ea typeface="Caladea"/>
              </a:rPr>
              <a:t>Πλήρης πίνακας μετρικών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89888"/>
          <a:ext cx="7406638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12372"/>
                <a:gridCol w="3078084"/>
                <a:gridCol w="211618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rlito"/>
                          <a:cs typeface="Carlito"/>
                          <a:ea typeface="Carlito"/>
                        </a:rPr>
                        <a:t>Διάσταση</a:t>
                      </a:r>
                    </a:p>
                  </a:txBody>
                  <a:tcPr marL="109728" marR="73152" marT="27432" marB="27432" anchor="ctr">
                    <a:solidFill>
                      <a:srgbClr val="7A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rlito"/>
                          <a:cs typeface="Carlito"/>
                          <a:ea typeface="Carlito"/>
                        </a:rPr>
                        <a:t>Μετρική</a:t>
                      </a:r>
                    </a:p>
                  </a:txBody>
                  <a:tcPr marL="109728" marR="73152" marT="27432" marB="27432" anchor="ctr">
                    <a:solidFill>
                      <a:srgbClr val="7A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rlito"/>
                          <a:cs typeface="Carlito"/>
                          <a:ea typeface="Carlito"/>
                        </a:rPr>
                        <a:t>Τιμή</a:t>
                      </a:r>
                    </a:p>
                  </a:txBody>
                  <a:tcPr marL="109728" marR="73152" marT="27432" marB="27432" anchor="ctr">
                    <a:solidFill>
                      <a:srgbClr val="7A16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570F1B"/>
                          </a:solidFill>
                          <a:latin typeface="Carlito"/>
                          <a:cs typeface="Carlito"/>
                          <a:ea typeface="Carlito"/>
                        </a:rPr>
                        <a:t>Υιοθέτηση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Ενεργοί χρήστες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1.300+ (από &lt;100)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570F1B"/>
                          </a:solidFill>
                          <a:latin typeface="Carlito"/>
                          <a:cs typeface="Carlito"/>
                          <a:ea typeface="Carlito"/>
                        </a:rPr>
                        <a:t>Εμπορικός αντίκτυπος</a:t>
                      </a:r>
                    </a:p>
                  </a:txBody>
                  <a:tcPr marL="109728" marR="73152" marT="27432" marB="27432" anchor="ctr">
                    <a:solidFill>
                      <a:srgbClr val="ECE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ECO Delivery Ocean 2024</a:t>
                      </a:r>
                    </a:p>
                  </a:txBody>
                  <a:tcPr marL="109728" marR="73152" marT="27432" marB="27432" anchor="ctr">
                    <a:solidFill>
                      <a:srgbClr val="ECE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98.000 FFE / $31 εκ.</a:t>
                      </a:r>
                    </a:p>
                  </a:txBody>
                  <a:tcPr marL="109728" marR="73152" marT="27432" marB="27432" anchor="ctr">
                    <a:solidFill>
                      <a:srgbClr val="ECE4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570F1B"/>
                          </a:solidFill>
                          <a:latin typeface="Carlito"/>
                          <a:cs typeface="Carlito"/>
                          <a:ea typeface="Carlito"/>
                        </a:rPr>
                        <a:t>Κανονιστική συμμόρφωση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Έλεγχος GIA 2023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Πλήρης αντιμετώπιση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570F1B"/>
                          </a:solidFill>
                          <a:latin typeface="Carlito"/>
                          <a:cs typeface="Carlito"/>
                          <a:ea typeface="Carlito"/>
                        </a:rPr>
                        <a:t>Ταχύτητα παράδοσης</a:t>
                      </a:r>
                    </a:p>
                  </a:txBody>
                  <a:tcPr marL="109728" marR="73152" marT="27432" marB="27432" anchor="ctr">
                    <a:solidFill>
                      <a:srgbClr val="ECE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Αναπτύξεις σε παραγωγή</a:t>
                      </a:r>
                    </a:p>
                  </a:txBody>
                  <a:tcPr marL="109728" marR="73152" marT="27432" marB="27432" anchor="ctr">
                    <a:solidFill>
                      <a:srgbClr val="ECE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~32 / ημέρα</a:t>
                      </a:r>
                    </a:p>
                  </a:txBody>
                  <a:tcPr marL="109728" marR="73152" marT="27432" marB="27432" anchor="ctr">
                    <a:solidFill>
                      <a:srgbClr val="ECE4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570F1B"/>
                          </a:solidFill>
                          <a:latin typeface="Carlito"/>
                          <a:cs typeface="Carlito"/>
                          <a:ea typeface="Carlito"/>
                        </a:rPr>
                        <a:t>Αξιοπιστία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Schema migrations χωρίς διακοπή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720+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570F1B"/>
                          </a:solidFill>
                          <a:latin typeface="Carlito"/>
                          <a:cs typeface="Carlito"/>
                          <a:ea typeface="Carlito"/>
                        </a:rPr>
                        <a:t>Έλεγχος ποιότητας</a:t>
                      </a:r>
                    </a:p>
                  </a:txBody>
                  <a:tcPr marL="109728" marR="73152" marT="27432" marB="27432" anchor="ctr">
                    <a:solidFill>
                      <a:srgbClr val="ECE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Κάλυψη αυτοματοποιημένων tests</a:t>
                      </a:r>
                    </a:p>
                  </a:txBody>
                  <a:tcPr marL="109728" marR="73152" marT="27432" marB="27432" anchor="ctr">
                    <a:solidFill>
                      <a:srgbClr val="ECE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80%+</a:t>
                      </a:r>
                    </a:p>
                  </a:txBody>
                  <a:tcPr marL="109728" marR="73152" marT="27432" marB="27432" anchor="ctr">
                    <a:solidFill>
                      <a:srgbClr val="ECE4D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570F1B"/>
                          </a:solidFill>
                          <a:latin typeface="Carlito"/>
                          <a:cs typeface="Carlito"/>
                          <a:ea typeface="Carlito"/>
                        </a:rPr>
                        <a:t>Κλίμακα κώδικα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Αρχεία πηγαίου κώδικα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~6.000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570F1B"/>
                          </a:solidFill>
                          <a:latin typeface="Carlito"/>
                          <a:cs typeface="Carlito"/>
                          <a:ea typeface="Carlito"/>
                        </a:rPr>
                        <a:t>Κύκλος ανάπτυξης</a:t>
                      </a:r>
                    </a:p>
                  </a:txBody>
                  <a:tcPr marL="109728" marR="73152" marT="27432" marB="27432" anchor="ctr">
                    <a:solidFill>
                      <a:srgbClr val="ECE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Από έναρξη έως παραγωγή</a:t>
                      </a:r>
                    </a:p>
                  </a:txBody>
                  <a:tcPr marL="109728" marR="73152" marT="27432" marB="27432" anchor="ctr">
                    <a:solidFill>
                      <a:srgbClr val="ECE4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232323"/>
                          </a:solidFill>
                          <a:latin typeface="Carlito"/>
                          <a:cs typeface="Carlito"/>
                          <a:ea typeface="Carlito"/>
                        </a:rPr>
                        <a:t>6 μήνες</a:t>
                      </a:r>
                    </a:p>
                  </a:txBody>
                  <a:tcPr marL="109728" marR="73152" marT="27432" marB="27432" anchor="ctr">
                    <a:solidFill>
                      <a:srgbClr val="ECE4D6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0" y="1389888"/>
            <a:ext cx="3474720" cy="4251960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0" y="1389888"/>
            <a:ext cx="109728" cy="4251960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0496" y="1664208"/>
            <a:ext cx="3017520" cy="3840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sz="1600" b="1" i="0">
                <a:solidFill>
                  <a:srgbClr val="7A1626"/>
                </a:solidFill>
                <a:latin typeface="Caladea"/>
                <a:cs typeface="Caladea"/>
                <a:ea typeface="Caladea"/>
              </a:rPr>
              <a:t>Με μια ματιά</a:t>
            </a:r>
          </a:p>
          <a:p>
            <a:pPr algn="l" indent="-201168" marL="201168">
              <a:lnSpc>
                <a:spcPct val="112000"/>
              </a:lnSpc>
              <a:spcAft>
                <a:spcPts val="1000"/>
              </a:spcAft>
              <a:buFont typeface="Arial" pitchFamily="34" charset="0"/>
              <a:buChar char="▪"/>
            </a:pPr>
            <a:r>
              <a:rPr sz="13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Από proof-of-concept σε production με μετρήσιμη εμπορική αξία σε μήνες.</a:t>
            </a:r>
          </a:p>
          <a:p>
            <a:pPr algn="l" indent="-201168" marL="201168">
              <a:lnSpc>
                <a:spcPct val="112000"/>
              </a:lnSpc>
              <a:spcAft>
                <a:spcPts val="1000"/>
              </a:spcAft>
              <a:buFont typeface="Arial" pitchFamily="34" charset="0"/>
              <a:buChar char="▪"/>
            </a:pPr>
            <a:r>
              <a:rPr sz="13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Ταχύτητα και ποιότητα δεν είναι αντίθετοι στόχοι.</a:t>
            </a:r>
          </a:p>
          <a:p>
            <a:pPr algn="l" indent="-201168" marL="201168">
              <a:lnSpc>
                <a:spcPct val="112000"/>
              </a:lnSpc>
              <a:buFont typeface="Arial" pitchFamily="34" charset="0"/>
              <a:buChar char="▪"/>
            </a:pPr>
            <a:r>
              <a:rPr sz="13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Ο τεχνικός σχεδιασμός υπηρετεί και την εταιρική διακυβέρνηση.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Πάγκος Εργασίας Εκπομπών · Διπλωματική Εργασία, Κ. Γκίνης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C29B52"/>
                </a:solidFill>
                <a:latin typeface="Carlito"/>
                <a:cs typeface="Carlito"/>
                <a:ea typeface="Carlito"/>
              </a:rPr>
              <a:t>ΣΥΜΠΕΡΑΣΜΑΤΑ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FFFFFF"/>
                </a:solidFill>
                <a:latin typeface="Caladea"/>
                <a:cs typeface="Caladea"/>
                <a:ea typeface="Caladea"/>
              </a:rPr>
              <a:t>Μαθήματα &amp; συμβιβασμοί (trade-offs)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35608"/>
            <a:ext cx="11155680" cy="749808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35608"/>
            <a:ext cx="91440" cy="74980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35608"/>
            <a:ext cx="1069848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Vertical ownership vs γνωσιακό φορτίο    </a:t>
            </a: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Μεγάλη συνοχή, αλλά απαιτεί ευρεία γνώση, αντίμετρο το pairing &amp; onboarding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76856"/>
            <a:ext cx="1115568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276856"/>
            <a:ext cx="91440" cy="74980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76856"/>
            <a:ext cx="1069848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Monorepo: ισχύς με κόστος    </a:t>
            </a: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Ατομικές αναπτύξεις &amp; refactoring, αλλά αυξανόμενος χρόνος build/CI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18104"/>
            <a:ext cx="11155680" cy="749808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118104"/>
            <a:ext cx="91440" cy="74980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18104"/>
            <a:ext cx="1069848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Event sourcing: επιλεκτικά    </a:t>
            </a: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Ιδανικό για audit-heavy προβλήματα (Energy Bank), αλλά αυξάνει την καμπύλη μάθησης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59352"/>
            <a:ext cx="1115568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959352"/>
            <a:ext cx="91440" cy="74980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59352"/>
            <a:ext cx="1069848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Cloud vs self-hosting    </a:t>
            </a: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Ευελιξία κλιμάκωσης, αλλά κόστος εξαρτώμενο από τον όγκο, απαιτεί σχεδιασμό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800600"/>
            <a:ext cx="11155680" cy="749808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800600"/>
            <a:ext cx="91440" cy="74980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00600"/>
            <a:ext cx="1069848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Ταχύτητα ως πλεονέκτημα    </a:t>
            </a:r>
            <a:r>
              <a:rPr sz="130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TDD + pair programming + CD: η ποιότητα επιτρέπει την ταχύτητα, δεν την εμποδίζει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Πάγκος Εργασίας Εκπομπών · Διπλωματική Εργασία, Κ. Γκίνης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64008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C29B52"/>
                </a:solidFill>
                <a:latin typeface="Carlito"/>
                <a:cs typeface="Carlito"/>
                <a:ea typeface="Carlito"/>
              </a:rPr>
              <a:t>ΜΕΛΛΟΝΤΙΚΗ ΕΡΓΑΣΙΑ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2500" b="1" i="0">
                <a:solidFill>
                  <a:srgbClr val="FFFFFF"/>
                </a:solidFill>
                <a:latin typeface="Caladea"/>
                <a:cs typeface="Caladea"/>
                <a:ea typeface="Caladea"/>
              </a:rPr>
              <a:t>Επόμενα βήματα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3584448" cy="1828800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73936"/>
            <a:ext cx="3127248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400" b="1" i="0">
                <a:solidFill>
                  <a:srgbClr val="C29B52"/>
                </a:solidFill>
                <a:latin typeface="Caladea"/>
                <a:cs typeface="Caladea"/>
                <a:ea typeface="Caladea"/>
              </a:rPr>
              <a:t>→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5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Scope 2 εκπομπές</a:t>
            </a:r>
          </a:p>
          <a:p>
            <a:pPr algn="l">
              <a:lnSpc>
                <a:spcPct val="108000"/>
              </a:lnSpc>
              <a:buNone/>
            </a:pPr>
            <a:r>
              <a:rPr sz="12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Γραφεία, τερματικά και cold ironing πλοίων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1572768"/>
            <a:ext cx="3584448" cy="1828800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773936"/>
            <a:ext cx="3127248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400" b="1" i="0">
                <a:solidFill>
                  <a:srgbClr val="C29B52"/>
                </a:solidFill>
                <a:latin typeface="Caladea"/>
                <a:cs typeface="Caladea"/>
                <a:ea typeface="Caladea"/>
              </a:rPr>
              <a:t>→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5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Επέκταση κάλυψης στόλου</a:t>
            </a:r>
          </a:p>
          <a:p>
            <a:pPr algn="l">
              <a:lnSpc>
                <a:spcPct val="108000"/>
              </a:lnSpc>
              <a:buNone/>
            </a:pPr>
            <a:r>
              <a:rPr sz="12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Περισσότερες δραστηριότητες &amp; τύποι μεταφοράς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2" y="1572768"/>
            <a:ext cx="3584448" cy="1828800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0184" y="1773936"/>
            <a:ext cx="3127248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400" b="1" i="0">
                <a:solidFill>
                  <a:srgbClr val="C29B52"/>
                </a:solidFill>
                <a:latin typeface="Caladea"/>
                <a:cs typeface="Caladea"/>
                <a:ea typeface="Caladea"/>
              </a:rPr>
              <a:t>→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5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Επέκταση αναφοράς SBTi</a:t>
            </a:r>
          </a:p>
          <a:p>
            <a:pPr algn="l">
              <a:lnSpc>
                <a:spcPct val="108000"/>
              </a:lnSpc>
              <a:buNone/>
            </a:pPr>
            <a:r>
              <a:rPr sz="12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Πληρέστερη παρακολούθηση κλιματικών δεσμεύσεων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30168"/>
            <a:ext cx="3584448" cy="1828800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831336"/>
            <a:ext cx="3127248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400" b="1" i="0">
                <a:solidFill>
                  <a:srgbClr val="C29B52"/>
                </a:solidFill>
                <a:latin typeface="Caladea"/>
                <a:cs typeface="Caladea"/>
                <a:ea typeface="Caladea"/>
              </a:rPr>
              <a:t>→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5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Προβλεπτικά analytics</a:t>
            </a:r>
          </a:p>
          <a:p>
            <a:pPr algn="l">
              <a:lnSpc>
                <a:spcPct val="108000"/>
              </a:lnSpc>
              <a:buNone/>
            </a:pPr>
            <a:r>
              <a:rPr sz="12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Σενάρια αποκαρβονοποίησης &amp; πρόβλεψη εκπομπών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8536" y="3630168"/>
            <a:ext cx="3584448" cy="1828800"/>
          </a:xfrm>
          <a:prstGeom prst="round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3831336"/>
            <a:ext cx="3127248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400" b="1" i="0">
                <a:solidFill>
                  <a:srgbClr val="C29B52"/>
                </a:solidFill>
                <a:latin typeface="Caladea"/>
                <a:cs typeface="Caladea"/>
                <a:ea typeface="Caladea"/>
              </a:rPr>
              <a:t>→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5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Bunker ↔ Energy Bank</a:t>
            </a:r>
          </a:p>
          <a:p>
            <a:pPr algn="l">
              <a:lnSpc>
                <a:spcPct val="108000"/>
              </a:lnSpc>
              <a:buNone/>
            </a:pPr>
            <a:r>
              <a:rPr sz="1250" b="0" i="0">
                <a:solidFill>
                  <a:srgbClr val="232323"/>
                </a:solidFill>
                <a:latin typeface="Carlito"/>
                <a:cs typeface="Carlito"/>
                <a:ea typeface="Carlito"/>
              </a:rPr>
              <a:t>Σύνδεση βελτιστοποίησης με τη λογιστική πράσινου καυσίμου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Πάγκος Εργασίας Εκπομπών · Διπλωματική Εργασία, Κ. Γκίνης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buNone/>
            </a:pPr>
            <a:r>
              <a:rPr sz="95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7A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64008" cy="6858000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up-4color-landsca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777240"/>
            <a:ext cx="2006279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063240"/>
            <a:ext cx="1033272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4000" b="1" i="0">
                <a:solidFill>
                  <a:srgbClr val="570F1B"/>
                </a:solidFill>
                <a:latin typeface="Caladea"/>
                <a:cs typeface="Caladea"/>
                <a:ea typeface="Caladea"/>
              </a:rPr>
              <a:t>Σας ευχαριστώ</a:t>
            </a:r>
          </a:p>
          <a:p>
            <a:pPr algn="ctr">
              <a:buNone/>
            </a:pPr>
            <a:r>
              <a:rPr sz="2000" b="0" i="1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Ερωτήσεις &amp; συζήτηση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4526280"/>
            <a:ext cx="3749039" cy="25400"/>
          </a:xfrm>
          <a:prstGeom prst="rect">
            <a:avLst/>
          </a:prstGeom>
          <a:solidFill>
            <a:srgbClr val="C2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33272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700" b="1" i="0">
                <a:solidFill>
                  <a:srgbClr val="232323"/>
                </a:solidFill>
                <a:latin typeface="Caladea"/>
                <a:cs typeface="Caladea"/>
                <a:ea typeface="Caladea"/>
              </a:rPr>
              <a:t>Κωνσταντίνος Γκίνης</a:t>
            </a:r>
          </a:p>
          <a:p>
            <a:pPr algn="ctr">
              <a:spcAft>
                <a:spcPts val="200"/>
              </a:spcAft>
              <a:buNone/>
            </a:pPr>
            <a:r>
              <a:rPr sz="130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Επιβλέπων: Χρήστος Μπούρας, Καθηγητής</a:t>
            </a:r>
          </a:p>
          <a:p>
            <a:pPr algn="ctr">
              <a:buNone/>
            </a:pPr>
            <a:r>
              <a:rPr sz="1200" b="0" i="0">
                <a:solidFill>
                  <a:srgbClr val="6E6E6E"/>
                </a:solidFill>
                <a:latin typeface="Carlito"/>
                <a:cs typeface="Carlito"/>
                <a:ea typeface="Carlito"/>
              </a:rPr>
              <a:t>Πανεπιστήμιο Πατρών · Τμήμα Μηχανικών Η/Υ &amp; Πληροφορικής · Μάιος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