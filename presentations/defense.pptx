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~30΄΄  |  Σύνολο στόχος: 20 λεπτά.</a:t>
            </a:r>
          </a:p>
          <a:p>
            <a:r>
              <a:t>Καλησπέρα σας. Ονομάζομαι Κωνσταντίνος Γκίνης. Η διπλωματική μου παρουσιάζει</a:t>
            </a:r>
          </a:p>
          <a:p>
            <a:r>
              <a:t>τον «Πάγκο Εργασίας Εκπομπών» (Emissions Workbench): μια πλατφόρμα λογισμικού</a:t>
            </a:r>
          </a:p>
          <a:p>
            <a:r>
              <a:t>παραγωγικής κλίμακας που σχεδίασε και υλοποίησε η ομάδα Energy Transition</a:t>
            </a:r>
          </a:p>
          <a:p>
            <a:r>
              <a:t>Platform της Maersk, για τη μέτρηση, πιστοποίηση και βελτιστοποίηση των εκπομπών</a:t>
            </a:r>
          </a:p>
          <a:p>
            <a:r>
              <a:t>αερίων θερμοκηπίου στη ναυτιλία. Επιβλέπων ο καθηγητής κ. Χρήστος Μπούρας.</a:t>
            </a:r>
          </a:p>
          <a:p>
            <a:r>
              <a:t>→ Ξεκινώ από το πρόβλημα που γέννησε την ανάγκη.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~70΄΄</a:t>
            </a:r>
          </a:p>
          <a:p>
            <a:r>
              <a:t>Η Maersk, με στόλο 700+ πλοίων, δεν μπορούσε να ανταποκριθεί αξιόπιστα στις</a:t>
            </a:r>
          </a:p>
          <a:p>
            <a:r>
              <a:t>αυξανόμενες απαιτήσεις για δεδομένα εκπομπών. Η διαδικασία ήταν εξ ολοκλήρου</a:t>
            </a:r>
          </a:p>
          <a:p>
            <a:r>
              <a:t>χειρωνακτική: αίτημα μέσω email, μη αυτόματη εξαγωγή δεδομένων, εφαρμογή</a:t>
            </a:r>
          </a:p>
          <a:p>
            <a:r>
              <a:t>συντελεστών σε φύλλα Excel, και απάντηση μετά από 3 έως 8 εβδομάδες.</a:t>
            </a:r>
          </a:p>
          <a:p>
            <a:r>
              <a:t>Αυτό κόστιζε σε τέσσερις άξονες: ΑΚΡΙΒΕΙΑ (λάθη μεθοδολογίας), ΤΑΧΥΤΗΤΑ</a:t>
            </a:r>
          </a:p>
          <a:p>
            <a:r>
              <a:t>(καθυστερήσεις που σήμαιναν απώλεια συμβολαίων), ΙΧΝΗΛΑΣΙΜΟΤΗΤΑ (κανένα</a:t>
            </a:r>
          </a:p>
          <a:p>
            <a:r>
              <a:t>audit) και ΚΛΙΜΑΚΑ (η ανθρώπινη δυναμικότητα δεν κλιμακώνεται για 1.300+ χρήστες).</a:t>
            </a:r>
          </a:p>
          <a:p>
            <a:r>
              <a:t>→ Το πρόβλημα ήταν γνωστό· χρειαζόταν όμως ένας καταλύτης.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~70΄΄</a:t>
            </a:r>
          </a:p>
          <a:p>
            <a:r>
              <a:t>Αυτός ο καταλύτης ήταν ο εσωτερικός έλεγχος Group Internal Audit του 2023.</a:t>
            </a:r>
          </a:p>
          <a:p>
            <a:r>
              <a:t>Εντόπισε τέσσερα συγκεκριμένα ευρήματα: έλλειψη παρακολούθησης δεδομένων,</a:t>
            </a:r>
          </a:p>
          <a:p>
            <a:r>
              <a:t>απουσία ίχνους ελέγχου (κρίσιμο εν όψει CSRD και EU ETS), αδυναμία κλιμάκωσης,</a:t>
            </a:r>
          </a:p>
          <a:p>
            <a:r>
              <a:t>και υψηλό ποσοστό σφαλμάτων. Η σημασία του ελέγχου ήταν ότι έδωσε επίσημο</a:t>
            </a:r>
          </a:p>
          <a:p>
            <a:r>
              <a:t>βάρος σε ένα ήδη γνωστό πρόβλημα — και έτσι εγκρίθηκαν πόροι για ένα εξ</a:t>
            </a:r>
          </a:p>
          <a:p>
            <a:r>
              <a:t>ολοκλήρου νέο σύστημα. Η ανάπτυξη ξεκίνησε τον Μάρτιο 2023 και έφτασε σε</a:t>
            </a:r>
          </a:p>
          <a:p>
            <a:r>
              <a:t>παραγωγή τον Σεπτέμβριο 2023: μόλις έξι μήνες.</a:t>
            </a:r>
          </a:p>
          <a:p>
            <a:r>
              <a:t>→ Ας δούμε τι έπρεπε να κάνει αυτό το σύστημα — τις προδιαγραφές.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~75΄΄</a:t>
            </a:r>
          </a:p>
          <a:p>
            <a:r>
              <a:t>Οι λειτουργικές απαιτήσεις προέκυψαν από έξι διακριτές ομάδες χρηστών, η καθεμία</a:t>
            </a:r>
          </a:p>
          <a:p>
            <a:r>
              <a:t>με διαφορετική ανάγκη και συχνότητα: από τα ECO Delivery Products που θέλουν</a:t>
            </a:r>
          </a:p>
          <a:p>
            <a:r>
              <a:t>αυτόματα πιστοποιητικά πολλές φορές την ημέρα, μέχρι τους Account Managers που</a:t>
            </a:r>
          </a:p>
          <a:p>
            <a:r>
              <a:t>χρειάζονται δεδομένα σε πραγματικό χρόνο μέσα σε μια διαπραγμάτευση.</a:t>
            </a:r>
          </a:p>
          <a:p>
            <a:r>
              <a:t>Από αυτή την ποικιλομορφία προκύπτουν οι βασικές λειτουργίες του συστήματος:</a:t>
            </a:r>
          </a:p>
          <a:p>
            <a:r>
              <a:t>αναζήτηση εκπομπών ανά πελάτη και χρονικό εύρος, ανάλυση ανά αποστολή και</a:t>
            </a:r>
          </a:p>
          <a:p>
            <a:r>
              <a:t>δρομολόγιο, εξαγωγή σε Excel, αυτόματη έκδοση πιστοποιητικών — και όλα αυτά</a:t>
            </a:r>
          </a:p>
          <a:p>
            <a:r>
              <a:t>σε λογική self-service, χωρίς μεσολάβηση ειδικής ομάδας αναφορών.</a:t>
            </a:r>
          </a:p>
          <a:p>
            <a:r>
              <a:t>→ Πέρα όμως από το «τι κάνει», υπάρχει το «πώς πρέπει να συμπεριφέρεται».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~75΄΄</a:t>
            </a:r>
          </a:p>
          <a:p>
            <a:r>
              <a:t>Εδώ είναι το σημείο που ζήτησε ιδιαίτερα η επιτροπή: οι μη-λειτουργικές, τεχνικές</a:t>
            </a:r>
          </a:p>
          <a:p>
            <a:r>
              <a:t>απαιτήσεις. Συνδυάζοντας τις ανάγκες των χρηστών με τα ευρήματα GIA, το σύστημα</a:t>
            </a:r>
          </a:p>
          <a:p>
            <a:r>
              <a:t>έπρεπε να εγγυάται: πλήρη ιχνηλασιμότητα δεδομένων· αμετάβλητο audit trail·</a:t>
            </a:r>
          </a:p>
          <a:p>
            <a:r>
              <a:t>δεδομένα πραγματικού χρόνου (freshness σε ώρες, όχι εβδομάδες)· κλιμακωσιμότητα·</a:t>
            </a:r>
          </a:p>
          <a:p>
            <a:r>
              <a:t>υψηλή διαθεσιμότητα· επαληθευσιμότητα για CSRD, EU ETS, ISCC· πλήρη</a:t>
            </a:r>
          </a:p>
          <a:p>
            <a:r>
              <a:t>αυτοματοποίηση· και ασφαλή εξουσιοδότηση.</a:t>
            </a:r>
          </a:p>
          <a:p>
            <a:r>
              <a:t>Καθεμία από αυτές καθόρισε μια αρχιτεκτονική επιλογή — που φαίνεται στην κάτω</a:t>
            </a:r>
          </a:p>
          <a:p>
            <a:r>
              <a:t>γραμμή: event-driven αρχιτεκτονική, event sourcing για το audit trail, Phoenix</a:t>
            </a:r>
          </a:p>
          <a:p>
            <a:r>
              <a:t>LiveView για real-time, και BEAM/Elixir για διαθεσιμότητα.</a:t>
            </a:r>
          </a:p>
          <a:p>
            <a:r>
              <a:t>→ Δείτε πώς υλοποιήθηκαν αυτές οι απαιτήσεις — η λύση.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~80΄΄</a:t>
            </a:r>
          </a:p>
          <a:p>
            <a:r>
              <a:t>Η λύση είναι μία ενιαία πλατφόρμα, σε ένα monorepo, οργανωμένη σε τέσσερις</a:t>
            </a:r>
          </a:p>
          <a:p>
            <a:r>
              <a:t>πυλώνες. ΠΥΛΩΝΑΣ Α – Ocean Emissions: αυτόματη μέτρηση εκπομπών ανά αποστολή,</a:t>
            </a:r>
          </a:p>
          <a:p>
            <a:r>
              <a:t>από τηλεμετρία στόλου (STAR Connect) και ενσωμάτωση EU ETS. ΠΥΛΩΝΑΣ Β – ECO</a:t>
            </a:r>
          </a:p>
          <a:p>
            <a:r>
              <a:t>Delivery: τα εμπορικά προϊόντα χαμηλού άνθρακα, με αυτόματα πιστοποιητικά και τη</a:t>
            </a:r>
          </a:p>
          <a:p>
            <a:r>
              <a:t>λογιστική πράσινου καυσίμου του Energy Bank. ΠΥΛΩΝΑΣ Γ – Net Zero 2040: εσωτερικοί</a:t>
            </a:r>
          </a:p>
          <a:p>
            <a:r>
              <a:t>πίνακες για οδικούς χάρτες αποκαρβονοποίησης. ΠΥΛΩΝΑΣ Δ – Bunker Optimization:</a:t>
            </a:r>
          </a:p>
          <a:p>
            <a:r>
              <a:t>βελτιστοποίηση πλάνων ανεφοδιασμού για ελάχιστο κόστος καυσίμου.</a:t>
            </a:r>
          </a:p>
          <a:p>
            <a:r>
              <a:t>Σημαντικό: οι πυλώνες δεν είναι ανεξάρτητοι — επικοινωνούν μέσω Kafka, όπως</a:t>
            </a:r>
          </a:p>
          <a:p>
            <a:r>
              <a:t>δείχνει η ροή δεδομένων στο κάτω μέρος.</a:t>
            </a:r>
          </a:p>
          <a:p>
            <a:r>
              <a:t>→ Πώς οργανώνεται τεχνικά όλο αυτό;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~70΄΄</a:t>
            </a:r>
          </a:p>
          <a:p>
            <a:r>
              <a:t>Η αρχιτεκτονική στηρίζεται σε πέντε αρχές. Clean Architecture: ο επιχειρησιακός</a:t>
            </a:r>
          </a:p>
          <a:p>
            <a:r>
              <a:t>πυρήνας είναι ανεξάρτητος από την υποδομή. Event-driven ingestion μέσω Kafka και</a:t>
            </a:r>
          </a:p>
          <a:p>
            <a:r>
              <a:t>εργασιών Oban. Event Sourcing ειδικά για το Energy Bank, που δίνει πλήρες ιστορικό</a:t>
            </a:r>
          </a:p>
          <a:p>
            <a:r>
              <a:t>και το αμετάβλητο audit trail. Real-time web με Phoenix LiveView, χωρίς reload</a:t>
            </a:r>
          </a:p>
          <a:p>
            <a:r>
              <a:t>σελίδας. Και ανάπτυξη σε Azure/Kubernetes με auto-scaling και infrastructure-as-code</a:t>
            </a:r>
          </a:p>
          <a:p>
            <a:r>
              <a:t>μέσω Terraform. Το διάγραμμα δείχνει τη συνολική ροή — από τις πηγές δεδομένων,</a:t>
            </a:r>
          </a:p>
          <a:p>
            <a:r>
              <a:t>μέσα από τα components, έως το επίπεδο ιστού.</a:t>
            </a:r>
          </a:p>
          <a:p>
            <a:r>
              <a:t>→ Ας δούμε τώρα την πλατφόρμα στην πράξη.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~70΄΄  [όταν μπουν τα screenshots, δείξε τη ζωντανή ροή]</a:t>
            </a:r>
          </a:p>
          <a:p>
            <a:r>
              <a:t>Αυτά είναι τα δύο πρώτα από τα πέντε χαρακτηριστικά του κύκλου αξίας.</a:t>
            </a:r>
          </a:p>
          <a:p>
            <a:r>
              <a:t>ΧΑΡΑΚΤΗΡΙΣΤΙΚΟ 1 – Αναζήτηση: ο χρήστης εισάγει κωδικό πελάτη και χρονικό εύρος,</a:t>
            </a:r>
          </a:p>
          <a:p>
            <a:r>
              <a:t>και τα δεδομένα εκπομπών επιστρέφονται άμεσα — αντικαθιστώντας τη ροή</a:t>
            </a:r>
          </a:p>
          <a:p>
            <a:r>
              <a:t>email-και-αναμονής 3 έως 8 εβδομάδων. Τεχνικά, γίνεται polling από το Dremio μέσω</a:t>
            </a:r>
          </a:p>
          <a:p>
            <a:r>
              <a:t>εργασιών Oban, που εξασφαλίζει freshness σε ώρες.</a:t>
            </a:r>
          </a:p>
          <a:p>
            <a:r>
              <a:t>ΧΑΡΑΚΤΗΡΙΣΤΙΚΟ 2 – Ανάλυση ανά αποστολή και δρομολόγιο: ο πελάτης βλέπει ποια</a:t>
            </a:r>
          </a:p>
          <a:p>
            <a:r>
              <a:t>δρομολόγια βαραίνουν περισσότερο το αποτύπωμά του — που είναι η βάση για να</a:t>
            </a:r>
          </a:p>
          <a:p>
            <a:r>
              <a:t>προτείνουμε υπηρεσίες ECO.</a:t>
            </a:r>
          </a:p>
          <a:p>
            <a:r>
              <a:t>→ Από τα δεδομένα, περνάμε στα πιστοποιητικά.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~60΄΄</a:t>
            </a:r>
          </a:p>
          <a:p>
            <a:r>
              <a:t>ΧΑΡΑΚΤΗΡΙΣΤΙΚΟ 4 – Δημιουργία πιστοποιητικών: το εργαλείο Certificates ενεργοποιεί</a:t>
            </a:r>
          </a:p>
          <a:p>
            <a:r>
              <a:t>εργασίες Oban που αντλούν από το ισοζύγιο του Energy Bank, επαληθεύουν τα διαθέσιμα</a:t>
            </a:r>
          </a:p>
          <a:p>
            <a:r>
              <a:t>υπόλοιπα βιώσιμου καυσίμου, και παράγουν έγγραφα συμμόρφωσης ISCC. ΧΑΡΑΚΤΗΡΙΣΤΙΚΟ</a:t>
            </a:r>
          </a:p>
          <a:p>
            <a:r>
              <a:t>5 – το τελικό PDF συνοδεύεται από αναλυτική αναφορά μεθοδολογίας, ώστε ο πελάτης</a:t>
            </a:r>
          </a:p>
          <a:p>
            <a:r>
              <a:t>να το χρησιμοποιήσει σε δικές του αναφορές CSRD. Όλη αυτή η ροή, που πριν απαιτούσε</a:t>
            </a:r>
          </a:p>
          <a:p>
            <a:r>
              <a:t>χειρωνακτική εργασία εβδομάδων, εκτελείται πλέον αυτόματα — σε λεπτά. Αριστερά κάτω,</a:t>
            </a:r>
          </a:p>
          <a:p>
            <a:r>
              <a:t>το ΧΑΡΑΚΤΗΡΙΣΤΙΚΟ 3: εξαγωγή σε Excel, τη μορφή που χρησιμοποιούν στην πράξη οι</a:t>
            </a:r>
          </a:p>
          <a:p>
            <a:r>
              <a:t>τελικοί χρήστες.</a:t>
            </a:r>
          </a:p>
          <a:p>
            <a:r>
              <a:t>→ Πίσω από αυτά υπάρχουν ακόμη τρία σημαντικά υποσυστήματα.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~60΄΄</a:t>
            </a:r>
          </a:p>
          <a:p>
            <a:r>
              <a:t>Τρεις ακόμη όψεις. Το Energy Bank: ένα event-sourced ledger με καταθέσεις και</a:t>
            </a:r>
          </a:p>
          <a:p>
            <a:r>
              <a:t>αναλήψεις βιώσιμου καυσίμου, που επιβάλλει τον περιορισμό του ισοζυγίου μάζας.</a:t>
            </a:r>
          </a:p>
          <a:p>
            <a:r>
              <a:t>Το Bunker Optimization: το αποτέλεσμα του solver — το βέλτιστο πλάνο ανεφοδιασμού</a:t>
            </a:r>
          </a:p>
          <a:p>
            <a:r>
              <a:t>ανά λιμάνι και δρομολόγιο. Και το Observability dashboard, που τεκμηριώνει τον</a:t>
            </a:r>
          </a:p>
          <a:p>
            <a:r>
              <a:t>ρυθμό αναπτύξεων και την υγεία του συστήματος — θα επανέλθω σε αυτό στα</a:t>
            </a:r>
          </a:p>
          <a:p>
            <a:r>
              <a:t>αποτελέσματα.</a:t>
            </a:r>
          </a:p>
          <a:p>
            <a:r>
              <a:t>→ Πριν τα αποτελέσματα, μια σύντομη θεωρητική βάση.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~60΄΄  [σύντομα — η επιτροπή ζήτησε λιγότερη θεωρία]</a:t>
            </a:r>
          </a:p>
          <a:p>
            <a:r>
              <a:t>Πολύ συνοπτικά το θεωρητικό υπόβαθρο. Οι εκπομπές κατηγοριοποιούνται σε Scope 1,</a:t>
            </a:r>
          </a:p>
          <a:p>
            <a:r>
              <a:t>2 και 3 (άμεσες, έμμεσες από ενέργεια, αλυσίδας αξίας). Τα όρια του συστήματος</a:t>
            </a:r>
          </a:p>
          <a:p>
            <a:r>
              <a:t>ορίζονται ως Tank-to-Wake ή Well-to-Wake. Ο πυρήνας του υπολογισμού είναι οι</a:t>
            </a:r>
          </a:p>
          <a:p>
            <a:r>
              <a:t>trade factors — οι συντελεστές εμπορικής διαδρομής. Και η λογιστική πράσινου</a:t>
            </a:r>
          </a:p>
          <a:p>
            <a:r>
              <a:t>καυσίμου στηρίζεται στο mass balance και στο book-and-claim, υπό τα πρότυπα</a:t>
            </a:r>
          </a:p>
          <a:p>
            <a:r>
              <a:t>ISCC, GLEC και το GHG Protocol.</a:t>
            </a:r>
          </a:p>
          <a:p>
            <a:r>
              <a:t>Το ουσιώδες: αυτές οι έννοιες δεν έμειναν θεωρητικές — αντιστοιχήθηκαν άμεσα σε</a:t>
            </a:r>
          </a:p>
          <a:p>
            <a:r>
              <a:t>σχεδιαστικά πρότυπα μέσα στον κώδικα.</a:t>
            </a:r>
          </a:p>
          <a:p>
            <a:r>
              <a:t>→ Ποια τεχνολογία τα υλοποιεί;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~60΄΄</a:t>
            </a:r>
          </a:p>
          <a:p>
            <a:r>
              <a:t>Η στοίβα στηρίζεται σε τρεις πυλώνες: την πλατφόρμα BEAM/Elixir για διαθεσιμότητα</a:t>
            </a:r>
          </a:p>
          <a:p>
            <a:r>
              <a:t>και ταυτοχρονισμό· το Phoenix LiveView για real-time διεπαφή χωρίς reload· και το</a:t>
            </a:r>
          </a:p>
          <a:p>
            <a:r>
              <a:t>Nix για αναπαραγώγιμα περιβάλλοντα. Τα υποστηρικτικά: PostgreSQL/Ecto για</a:t>
            </a:r>
          </a:p>
          <a:p>
            <a:r>
              <a:t>μονιμότητα, Apache Kafka για τη ροή συμβάντων, Commanded/EventStore για το event</a:t>
            </a:r>
          </a:p>
          <a:p>
            <a:r>
              <a:t>sourcing του Energy Bank, Oban για ασύγχρονες εργασίες, Dremio ως data lake, και</a:t>
            </a:r>
          </a:p>
          <a:p>
            <a:r>
              <a:t>Azure με Kubernetes και Terraform για deployment.</a:t>
            </a:r>
          </a:p>
          <a:p>
            <a:r>
              <a:t>→ Εξίσου σημαντικό με την τεχνολογία ήταν ο τρόπος εργασίας της ομάδας.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~70΄΄</a:t>
            </a:r>
          </a:p>
          <a:p>
            <a:r>
              <a:t>Η ομάδα των 28 μελών εφάρμοσε Extreme Programming. Pair programming: συνεχής</a:t>
            </a:r>
          </a:p>
          <a:p>
            <a:r>
              <a:t>έλεγχος κώδικα και μεταφορά γνώσης. TDD, με κάλυψη 80%+. Continuous Integration/</a:t>
            </a:r>
          </a:p>
          <a:p>
            <a:r>
              <a:t>Delivery σε λογική trunk-based, που έφτανε τις ~32 αναπτύξεις την ημέρα. Vertical</a:t>
            </a:r>
          </a:p>
          <a:p>
            <a:r>
              <a:t>ownership: κάθε μηχανικός αναλαμβάνει λειτουργικότητα από τη βάση δεδομένων έως το</a:t>
            </a:r>
          </a:p>
          <a:p>
            <a:r>
              <a:t>UI. Και σφιχτοί βρόχοι ανατροφοδότησης σε κάθε επίπεδο. Αυτές οι πρακτικές είναι</a:t>
            </a:r>
          </a:p>
          <a:p>
            <a:r>
              <a:t>που έκαναν εφικτό τον κύκλο των έξι μηνών έως την παραγωγή.</a:t>
            </a:r>
          </a:p>
          <a:p>
            <a:r>
              <a:t>→ Και ερχόμαστε στο πιο σημαντικό: τα αποτελέσματα.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~80΄΄  [η κορυφαία διαφάνεια — δώσε χρόνο και έμφαση]</a:t>
            </a:r>
          </a:p>
          <a:p>
            <a:r>
              <a:t>Ο αντίκτυπος είναι μετρήσιμος. 1.300+ ενεργοί χρήστες — από λιγότερους από 100</a:t>
            </a:r>
          </a:p>
          <a:p>
            <a:r>
              <a:t>στην εποχή του Excel. ECO Delivery αξίας 31 εκατομμυρίων δολαρίων, ή 98.000 FFE,</a:t>
            </a:r>
          </a:p>
          <a:p>
            <a:r>
              <a:t>μόνο για το 2024 — μια εμπορική δραστηριότητα που πριν δεν ήταν τεχνικά εφικτή σε</a:t>
            </a:r>
          </a:p>
          <a:p>
            <a:r>
              <a:t>αυτή την κλίμακα. Από την έναρξη έως την παραγωγή: έξι μήνες. ~32 αναπτύξεις την</a:t>
            </a:r>
          </a:p>
          <a:p>
            <a:r>
              <a:t>ημέρα — μία κάθε δεκαπέντε λεπτά. 720+ schema migrations χωρίς καμία διακοπή</a:t>
            </a:r>
          </a:p>
          <a:p>
            <a:r>
              <a:t>υπηρεσίας. Και πλήρης, 100%, αντιμετώπιση όλων των ευρημάτων του ελέγχου GIA.</a:t>
            </a:r>
          </a:p>
          <a:p>
            <a:r>
              <a:t>→ Ο πλήρης πίνακας μετρικών.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~60΄΄</a:t>
            </a:r>
          </a:p>
          <a:p>
            <a:r>
              <a:t>Ο συγκεντρωτικός πίνακας προσθέτει και την τεχνική ωριμότητα: 80%+ κάλυψη tests,</a:t>
            </a:r>
          </a:p>
          <a:p>
            <a:r>
              <a:t>~6.000 αρχεία πηγαίου κώδικα. Τρία συμπεράσματα αξίζει να κρατήσετε: πρώτον, η</a:t>
            </a:r>
          </a:p>
          <a:p>
            <a:r>
              <a:t>πλατφόρμα πέρασε από proof-of-concept σε παραγωγή με μετρήσιμη εμπορική αξία μέσα</a:t>
            </a:r>
          </a:p>
          <a:p>
            <a:r>
              <a:t>σε μήνες. Δεύτερον, ταχύτητα και ποιότητα δεν είναι αντίθετοι στόχοι. Και τρίτον, ο</a:t>
            </a:r>
          </a:p>
          <a:p>
            <a:r>
              <a:t>τεχνικός σχεδιασμός — event sourcing, audit trail — δεν υπηρετεί μόνο λειτουργικούς</a:t>
            </a:r>
          </a:p>
          <a:p>
            <a:r>
              <a:t>στόχους, αλλά και την εταιρική διακυβέρνηση.</a:t>
            </a:r>
          </a:p>
          <a:p>
            <a:r>
              <a:t>→ Τι μάθαμε από την υλοποίηση;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~70΄΄</a:t>
            </a:r>
          </a:p>
          <a:p>
            <a:r>
              <a:t>Πέντε μαθήματα, κυρίως συμβιβασμοί. Το vertical ownership δίνει συνοχή, αλλά αυξάνει</a:t>
            </a:r>
          </a:p>
          <a:p>
            <a:r>
              <a:t>το γνωσιακό φορτίο — αντίμετρο το pairing και το onboarding. Το monorepo προσφέρει</a:t>
            </a:r>
          </a:p>
          <a:p>
            <a:r>
              <a:t>ατομικές αναπτύξεις, με κόστος χρόνου build. Το event sourcing είναι ιδανικό για</a:t>
            </a:r>
          </a:p>
          <a:p>
            <a:r>
              <a:t>audit-heavy προβλήματα όπως το Energy Bank, αλλά πρέπει να εφαρμόζεται επιλεκτικά.</a:t>
            </a:r>
          </a:p>
          <a:p>
            <a:r>
              <a:t>Το cloud δίνει ευελιξία, με κόστος που απαιτεί σχεδιασμό. Και το βασικότερο: η</a:t>
            </a:r>
          </a:p>
          <a:p>
            <a:r>
              <a:t>ταχύτητα παράδοσης, όταν στηρίζεται σε TDD και pair programming, γίνεται</a:t>
            </a:r>
          </a:p>
          <a:p>
            <a:r>
              <a:t>ανταγωνιστικό πλεονέκτημα — η ποιότητα επιτρέπει την ταχύτητα, δεν την εμποδίζει.</a:t>
            </a:r>
          </a:p>
          <a:p>
            <a:r>
              <a:t>→ Πού πηγαίνει το έργο από εδώ;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~50΄΄</a:t>
            </a:r>
          </a:p>
          <a:p>
            <a:r>
              <a:t>Οι κυριότερες επεκτάσεις που ήδη σχεδιάζονται: κάλυψη εκπομπών Scope 2 (γραφεία,</a:t>
            </a:r>
          </a:p>
          <a:p>
            <a:r>
              <a:t>τερματικά, cold ironing)· επέκταση κάλυψης στόλου και δραστηριοτήτων· πληρέστερη</a:t>
            </a:r>
          </a:p>
          <a:p>
            <a:r>
              <a:t>αναφορά SBTi· προβλεπτικά analytics με σενάρια αποκαρβονοποίησης· και στενότερη</a:t>
            </a:r>
          </a:p>
          <a:p>
            <a:r>
              <a:t>σύνδεση του Bunker Optimization με τη λογιστική του Energy Bank.</a:t>
            </a:r>
          </a:p>
          <a:p>
            <a:r>
              <a:t>→ Κλείνω.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~30΄΄</a:t>
            </a:r>
          </a:p>
          <a:p>
            <a:r>
              <a:t>Συνοψίζοντας: ο Πάγκος Εργασίας Εκπομπών αποδεικνύει ότι ένα σύστημα μπορεί να</a:t>
            </a:r>
          </a:p>
          <a:p>
            <a:r>
              <a:t>συνδυάσει επιστημονική ακρίβεια, εμπορική αξιοπιστία και υψηλό ρυθμό παράδοσης —</a:t>
            </a:r>
          </a:p>
          <a:p>
            <a:r>
              <a:t>αρκεί οι τεχνολογικές, αρχιτεκτονικές και μεθοδολογικές επιλογές να αντιμετωπίζονται</a:t>
            </a:r>
          </a:p>
          <a:p>
            <a:r>
              <a:t>ως ενιαίο σύστημα. Σας ευχαριστώ για την προσοχή σας· είμαι στη διάθεσή σας για</a:t>
            </a:r>
          </a:p>
          <a:p>
            <a:r>
              <a:t>ερωτήσεις.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64008" cy="685800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up-4color-landsca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550306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606040" y="566928"/>
            <a:ext cx="896112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7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ΠΑΝΕΠΙΣΤΗΜΙΟ ΠΑΤΡΩΝ</a:t>
            </a:r>
          </a:p>
          <a:p>
            <a:pPr algn="l">
              <a:spcAft>
                <a:spcPts val="100"/>
              </a:spcAft>
              <a:buNone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Πολυτεχνική Σχολή</a:t>
            </a:r>
          </a:p>
          <a:p>
            <a:pPr algn="l">
              <a:buNone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Τμήμα Μηχανικών Η/Υ και Πληροφορικής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95728"/>
            <a:ext cx="10515600" cy="2540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1060704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Πλατφόρμα λογισμικού για την επίτευξη του στόχου</a:t>
            </a:r>
          </a:p>
          <a:p>
            <a:pPr algn="l">
              <a:lnSpc>
                <a:spcPct val="105000"/>
              </a:lnSpc>
              <a:buNone/>
            </a:pPr>
            <a:r>
              <a:rPr sz="30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μηδενικές εκπομπές CO₂: Η περίπτωση της Mærsk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5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Διπλωματική Εργασία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00600"/>
            <a:ext cx="59436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  <a:buNone/>
            </a:pPr>
            <a:r>
              <a:rPr sz="19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Κωνσταντίνος Γκίνης</a:t>
            </a:r>
          </a:p>
          <a:p>
            <a:pPr algn="l">
              <a:buNone/>
            </a:pPr>
            <a:r>
              <a:rPr sz="130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Επιβλέπων: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Χρήστος Μπούρας, Καθηγητής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800600"/>
            <a:ext cx="45720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200" b="1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Εξεταστική Επιτροπή</a:t>
            </a:r>
          </a:p>
          <a:p>
            <a:pPr algn="l">
              <a:spcAft>
                <a:spcPts val="100"/>
              </a:spcAft>
              <a:buNone/>
            </a:pPr>
            <a:r>
              <a:rPr sz="12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Ιωάννης Γαροφαλάκης, Καθηγητής</a:t>
            </a:r>
          </a:p>
          <a:p>
            <a:pPr algn="l">
              <a:buNone/>
            </a:pPr>
            <a:r>
              <a:rPr sz="12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Εύη Παπαϊωάννου, Επίκουρη Καθηγήτρια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Πάτρα, Μάιος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ΤΟ ΠΛΑΊΣΙΟ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Το πρόβλημα: η χειρωνακτική διαδικασία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6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Η Maersk — στόλος 700+ πλοίων — αδυνατούσε να ανταποκριθεί αξιόπιστα στις απαιτήσεις για δεδομένα εκπομπών.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212848"/>
            <a:ext cx="384048" cy="384048"/>
          </a:xfrm>
          <a:prstGeom prst="ellipse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12848"/>
            <a:ext cx="384048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76272"/>
            <a:ext cx="5486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Αίτημα μέσω email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Ο πελάτης ή το τμήμα πωλήσεων ζητά δεδομένα εκπομπών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871216"/>
            <a:ext cx="384048" cy="384048"/>
          </a:xfrm>
          <a:prstGeom prst="ellipse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384048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34640"/>
            <a:ext cx="5486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Χειρωνακτική εξαγωγή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Μη αυτόματη άντληση δεδομένων από πολλαπλές πηγές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93008"/>
            <a:ext cx="5486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Excel + συντελεστές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Εφαρμογή συντελεστών εκπομπών σε υπολογιστικά φύλλα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187952"/>
            <a:ext cx="384048" cy="384048"/>
          </a:xfrm>
          <a:prstGeom prst="ellipse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187952"/>
            <a:ext cx="384048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51376"/>
            <a:ext cx="5486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Απάντηση σε 3–8 εβδομάδες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Αποστολή αποτελέσματος ξανά μέσω email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1298448"/>
            <a:ext cx="4617720" cy="41605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1298448"/>
            <a:ext cx="109728" cy="41605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1572768"/>
            <a:ext cx="39319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7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Τι κόστιζε αυτό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Ακρίβεια</a:t>
            </a:r>
          </a:p>
          <a:p>
            <a:pPr algn="l" lvl="1">
              <a:spcAft>
                <a:spcPts val="800"/>
              </a:spcAft>
              <a:buNone/>
            </a:pPr>
            <a:r>
              <a:rPr sz="12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λάθη μεθοδολογίας, ελλιπής κανονικοποίηση δεδομένων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Ταχύτητα</a:t>
            </a:r>
          </a:p>
          <a:p>
            <a:pPr algn="l" lvl="1">
              <a:spcAft>
                <a:spcPts val="800"/>
              </a:spcAft>
              <a:buNone/>
            </a:pPr>
            <a:r>
              <a:rPr sz="12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καθυστέρηση εβδομάδων — απώλεια συμβολαίων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Ιχνηλασιμότητα</a:t>
            </a:r>
          </a:p>
          <a:p>
            <a:pPr algn="l" lvl="1">
              <a:spcAft>
                <a:spcPts val="800"/>
              </a:spcAft>
              <a:buNone/>
            </a:pPr>
            <a:r>
              <a:rPr sz="12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καμία δυνατότητα ανεξάρτητου ελέγχου (audit)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Κλίμακα</a:t>
            </a:r>
          </a:p>
          <a:p>
            <a:pPr algn="l" lvl="1">
              <a:buNone/>
            </a:pPr>
            <a:r>
              <a:rPr sz="12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1.300+ χρήστες, ανθρώπινη δυναμικότητα δεν κλιμακώνεται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Ο ΚΑΤΑΛΎΤΗΣ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Ο εσωτερικός έλεγχος GIA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5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Ο έλεγχος Group Internal Audit (2023) </a:t>
            </a:r>
            <a:r>
              <a:rPr sz="15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μετέτρεψε ένα γνωστό λειτουργικό πρόβλημα σε επίσημη, επείγουσα προτεραιότητα — και όρισε τις απαιτήσεις του συστήματος.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12848"/>
            <a:ext cx="2670048" cy="23317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12848"/>
            <a:ext cx="2670048" cy="9144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468880"/>
            <a:ext cx="2267712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2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Παρακολούθηση δεδομένων</a:t>
            </a:r>
          </a:p>
          <a:p>
            <a:pPr algn="l">
              <a:lnSpc>
                <a:spcPct val="110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Καμία ενιαία ιχνηλάτηση ροής δεδομένων από την πηγή έως την αναφορά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2212848"/>
            <a:ext cx="2670048" cy="23317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2212848"/>
            <a:ext cx="2670048" cy="9144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468880"/>
            <a:ext cx="2267712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2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Ίχνος ελέγχου (audit trail)</a:t>
            </a:r>
          </a:p>
          <a:p>
            <a:pPr algn="l">
              <a:lnSpc>
                <a:spcPct val="110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Αδύνατη η ανεξάρτητη επαλήθευση των υπολογισμών — κρίσιμο για CSRD/EU 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2212848"/>
            <a:ext cx="2670048" cy="23317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2212848"/>
            <a:ext cx="2670048" cy="9144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468880"/>
            <a:ext cx="2267712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2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Κλιμακωσιμότητα</a:t>
            </a:r>
          </a:p>
          <a:p>
            <a:pPr algn="l">
              <a:lnSpc>
                <a:spcPct val="110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Αύξηση αιτημάτων χωρίς αντίστοιχη κλιμάκωση ανθρώπινης δυναμικότητας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212848"/>
            <a:ext cx="2670048" cy="23317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51976" y="2212848"/>
            <a:ext cx="2670048" cy="9144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2468880"/>
            <a:ext cx="2267712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2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04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Ποσοστό σφαλμάτων</a:t>
            </a:r>
          </a:p>
          <a:p>
            <a:pPr algn="l">
              <a:lnSpc>
                <a:spcPct val="110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Εγγενώς υψηλότερα λάθη σε χειρωνακτικές διαδικασίες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45736"/>
            <a:ext cx="11155680" cy="548640"/>
          </a:xfrm>
          <a:prstGeom prst="roundRect">
            <a:avLst/>
          </a:prstGeom>
          <a:solidFill>
            <a:srgbClr val="E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4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➜  Αποτέλεσμα:  </a:t>
            </a:r>
            <a:r>
              <a:rPr sz="14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έγκριση πόρων για εξ ολοκλήρου νέο σύστημα — ανάπτυξη από τον Μάρτιο 2023, πρώτοι χρήστες παραγωγής τον Σεπτέμβριο 2023.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ΠΡΟΔΙΑΓΡΑΦΈΣ ·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Λειτουργικές απαιτήσεις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4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Έξι ομάδες χρηστών με διαφορετικές ανάγκες όρισαν τι πρέπει να κάνει το σύστημα: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892808"/>
          <a:ext cx="6903719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2031"/>
                <a:gridCol w="3147284"/>
                <a:gridCol w="162440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FFFFFF"/>
                          </a:solidFill>
                          <a:latin typeface="Carlito"/>
                          <a:cs typeface="Carlito"/>
                          <a:ea typeface="Carlito"/>
                        </a:rPr>
                        <a:t>Ομάδα χρηστών</a:t>
                      </a:r>
                    </a:p>
                  </a:txBody>
                  <a:tcPr marL="109728" marR="73152" marT="27432" marB="27432" anchor="ctr">
                    <a:solidFill>
                      <a:srgbClr val="7A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FFFFFF"/>
                          </a:solidFill>
                          <a:latin typeface="Carlito"/>
                          <a:cs typeface="Carlito"/>
                          <a:ea typeface="Carlito"/>
                        </a:rPr>
                        <a:t>Τι χρειάζεται</a:t>
                      </a:r>
                    </a:p>
                  </a:txBody>
                  <a:tcPr marL="109728" marR="73152" marT="27432" marB="27432" anchor="ctr">
                    <a:solidFill>
                      <a:srgbClr val="7A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FFFFFF"/>
                          </a:solidFill>
                          <a:latin typeface="Carlito"/>
                          <a:cs typeface="Carlito"/>
                          <a:ea typeface="Carlito"/>
                        </a:rPr>
                        <a:t>Συχνότητα</a:t>
                      </a:r>
                    </a:p>
                  </a:txBody>
                  <a:tcPr marL="109728" marR="73152" marT="27432" marB="27432" anchor="ctr">
                    <a:solidFill>
                      <a:srgbClr val="7A16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ECO Delivery Products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Εκπομπές ανά αποστολή· πιστοποιητικά ECOv1/ECOv2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Πολλές φορές/ημέρα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Regional Product Mgmt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Συγκεντρωτικά δεδομένα &amp; τάσεις ανά περιοχή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Εβδομαδιαία/μηνιαία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Commercial Sustainability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Επαληθεύσιμα στοιχεία για ESG / CSRD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Τριμηνιαία/ετήσια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Regional Sales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Γρήγορη πρόσβαση για ζωντανές διαπραγματεύσεις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Ad hoc, υψηλή πίεση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Contract Management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Audit-ready απόδειξη συμβατικών δεσμεύσεων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Ανά σύμβαση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8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Account Managers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Εκπομπές πελάτη σε πραγματικό χρόνο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8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Ad hoc, real-time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26679" y="1892808"/>
            <a:ext cx="3977639" cy="3977639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892808"/>
            <a:ext cx="109728" cy="3977639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5" y="2121408"/>
            <a:ext cx="352044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15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Λειτουργίες που προκύπτουν</a:t>
            </a:r>
          </a:p>
          <a:p>
            <a:pPr algn="l" indent="-201168" marL="201168">
              <a:lnSpc>
                <a:spcPct val="105000"/>
              </a:lnSpc>
              <a:spcAft>
                <a:spcPts val="700"/>
              </a:spcAft>
              <a:buFont typeface="Arial" pitchFamily="34" charset="0"/>
              <a:buChar char="▪"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Αναζήτηση εκπομπών ανά πελάτη &amp; χρονικό εύρος</a:t>
            </a:r>
          </a:p>
          <a:p>
            <a:pPr algn="l" indent="-201168" marL="201168">
              <a:lnSpc>
                <a:spcPct val="105000"/>
              </a:lnSpc>
              <a:spcAft>
                <a:spcPts val="700"/>
              </a:spcAft>
              <a:buFont typeface="Arial" pitchFamily="34" charset="0"/>
              <a:buChar char="▪"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Ανάλυση ανά αποστολή / δρομολόγιο</a:t>
            </a:r>
          </a:p>
          <a:p>
            <a:pPr algn="l" indent="-201168" marL="201168">
              <a:lnSpc>
                <a:spcPct val="105000"/>
              </a:lnSpc>
              <a:spcAft>
                <a:spcPts val="700"/>
              </a:spcAft>
              <a:buFont typeface="Arial" pitchFamily="34" charset="0"/>
              <a:buChar char="▪"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Εξαγωγή δεδομένων σε Excel</a:t>
            </a:r>
          </a:p>
          <a:p>
            <a:pPr algn="l" indent="-201168" marL="201168">
              <a:lnSpc>
                <a:spcPct val="105000"/>
              </a:lnSpc>
              <a:spcAft>
                <a:spcPts val="700"/>
              </a:spcAft>
              <a:buFont typeface="Arial" pitchFamily="34" charset="0"/>
              <a:buChar char="▪"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Αυτόματη έκδοση πιστοποιητικών (PDF)</a:t>
            </a:r>
          </a:p>
          <a:p>
            <a:pPr algn="l" indent="-201168" marL="201168">
              <a:lnSpc>
                <a:spcPct val="105000"/>
              </a:lnSpc>
              <a:buFont typeface="Arial" pitchFamily="34" charset="0"/>
              <a:buChar char="▪"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Self-service — χωρίς μεσολάβηση ομάδας αναφορών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ΠΡΟΔΙΑΓΡΑΦΈΣ ·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Μη-λειτουργικές &amp; τεχνικές απαιτήσεις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4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Οι ανάγκες των χρηστών και τα ευρήματα GIA ορίζουν πώς πρέπει να συμπεριφέρεται το σύστημα: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47088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975104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Ιχνηλασιμότητα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Πλήρης διαδρομή δεδομένων από την πηγή έως κάθε αναφορά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847088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847088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975104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Αμετάβλητο audit trail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Καταγραφή κάθε αλλαγής — ανεξάρτητα επαληθεύσιμη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847088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847088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975104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Δεδομένα πραγματικού χρόνου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Freshness σε ώρες αντί για εβδομάδες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34272" y="1847088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34272" y="1847088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975104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Κλιμακωσιμότητα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1.300+ χρήστες, αυξανόμενος όγκος αιτημάτων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00400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00400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328416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Υψηλή διαθεσιμότητα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Production-grade, χωρίς διακοπές υπηρεσίας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46704" y="3200400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46704" y="3200400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328416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Επαληθευσιμότητα &amp; συμμόρφωση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Έτοιμο για CSRD, EU ETS, ISCC, CDP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00400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00400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3328416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Αυτοματοποίηση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Πιστοποιητικά χωρίς ανθρώπινη παρέμβαση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34272" y="3200400"/>
            <a:ext cx="2697480" cy="12070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34272" y="3200400"/>
            <a:ext cx="91440" cy="12070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72016" y="3328416"/>
            <a:ext cx="2331720" cy="10241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4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Ασφάλεια &amp; εξουσιοδότηση</a:t>
            </a:r>
          </a:p>
          <a:p>
            <a:pPr algn="l">
              <a:lnSpc>
                <a:spcPct val="105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Πρόσβαση μόνο με εταιρικά δικαιώματα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26864"/>
            <a:ext cx="11155680" cy="566928"/>
          </a:xfrm>
          <a:prstGeom prst="roundRect">
            <a:avLst/>
          </a:prstGeom>
          <a:solidFill>
            <a:srgbClr val="E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626864"/>
            <a:ext cx="1060704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Τεχνική απάντηση:  </a:t>
            </a: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event-driven αρχιτεκτονική · event sourcing για το audit trail · Phoenix LiveView για real-time · BEAM/Elixir για διαθεσιμότητα.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Η ΛΎΣΗ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Emissions Workbench — τέσσερις πυλώνες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5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Μία πλατφόρμα </a:t>
            </a:r>
            <a:r>
              <a:rPr sz="13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(emissions-workbench.maersk.com)</a:t>
            </a:r>
            <a:r>
              <a:rPr sz="15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 · monorepo · 4 πυλώνες με κοινή ροή δεδομένων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2670048" cy="315468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502920" y="1984248"/>
            <a:ext cx="2670048" cy="777240"/>
          </a:xfrm>
          <a:prstGeom prst="round2Same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340864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5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Α · Ocean Emissions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898648"/>
            <a:ext cx="2231136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Αυτόματη μέτρηση εκπομπών ανά αποστολή από τηλεμετρία στόλου (STAR Connect) + EU 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4590288"/>
            <a:ext cx="1097280" cy="384048"/>
          </a:xfrm>
          <a:prstGeom prst="round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590288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Κεφ.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1984248"/>
            <a:ext cx="2670048" cy="315468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319272" y="1984248"/>
            <a:ext cx="2670048" cy="777240"/>
          </a:xfrm>
          <a:prstGeom prst="round2Same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984248"/>
            <a:ext cx="2340864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5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Β · ECO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898648"/>
            <a:ext cx="2231136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Εμπορικά προϊόντα χαμηλού άνθρακα · αυτόματα πιστοποιητικά · Energy Bank (mass balance)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38728" y="4590288"/>
            <a:ext cx="1097280" cy="384048"/>
          </a:xfrm>
          <a:prstGeom prst="round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4590288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Κεφ.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1984248"/>
            <a:ext cx="2670048" cy="315468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6135624" y="1984248"/>
            <a:ext cx="2670048" cy="777240"/>
          </a:xfrm>
          <a:prstGeom prst="round2Same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984248"/>
            <a:ext cx="2340864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5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Γ · Net Zero 2040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898648"/>
            <a:ext cx="2231136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Εσωτερικοί πίνακες για οδικούς χάρτες αποκαρβονοποίησης &amp; δεσμεύσεις SBTi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4590288"/>
            <a:ext cx="1097280" cy="384048"/>
          </a:xfrm>
          <a:prstGeom prst="round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590288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Κεφ. 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984248"/>
            <a:ext cx="2670048" cy="315468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 Same Side Corner Rectangle 26"/>
          <p:cNvSpPr/>
          <p:nvPr/>
        </p:nvSpPr>
        <p:spPr>
          <a:xfrm>
            <a:off x="8951976" y="1984248"/>
            <a:ext cx="2670048" cy="777240"/>
          </a:xfrm>
          <a:prstGeom prst="round2Same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6568" y="1984248"/>
            <a:ext cx="2340864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5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Δ · Bunker Optimization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898648"/>
            <a:ext cx="2231136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buNone/>
            </a:pP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Βελτιστοποίηση πλάνων ανεφοδιασμού για ελάχιστο κόστος καυσίμου σε περιβάλλον ETS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4590288"/>
            <a:ext cx="1097280" cy="384048"/>
          </a:xfrm>
          <a:prstGeom prst="round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71432" y="4590288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Κεφ.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Ροή δεδομένων: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Ocean Emissions → κατανομή ECO · Bunker → διαθεσιμότητα καυσίμου → Energy Bank → εκκαθάριση αξιώσεων → πιστοποιητικά  (μέσω Kafka)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ΤΕΧΝΙΚΉ ΕΠΙΣΚΌΠΗΣΗ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Αρχιτεκτονική του συστήματος</a:t>
            </a:r>
          </a:p>
        </p:txBody>
      </p:sp>
      <p:pic>
        <p:nvPicPr>
          <p:cNvPr id="7" name="Picture 6" descr="system_overvie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97367"/>
            <a:ext cx="7772400" cy="43741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298448"/>
            <a:ext cx="3291840" cy="457200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298448"/>
            <a:ext cx="109728" cy="457200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1572768"/>
            <a:ext cx="283464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6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Βασικές αρχές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3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Clean Architecture</a:t>
            </a:r>
          </a:p>
          <a:p>
            <a:pPr algn="l" lvl="1">
              <a:spcAft>
                <a:spcPts val="900"/>
              </a:spcAft>
              <a:buNone/>
            </a:pPr>
            <a:r>
              <a:rPr sz="11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domain ανεξάρτητο από υποδομή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3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Event-driven ingestion</a:t>
            </a:r>
          </a:p>
          <a:p>
            <a:pPr algn="l" lvl="1">
              <a:spcAft>
                <a:spcPts val="900"/>
              </a:spcAft>
              <a:buNone/>
            </a:pPr>
            <a:r>
              <a:rPr sz="11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Kafka + Oban workers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3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Event Sourcing (Energy Bank)</a:t>
            </a:r>
          </a:p>
          <a:p>
            <a:pPr algn="l" lvl="1">
              <a:spcAft>
                <a:spcPts val="900"/>
              </a:spcAft>
              <a:buNone/>
            </a:pPr>
            <a:r>
              <a:rPr sz="11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πλήρες ιστορικό &amp; audit trail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3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Real-time web (LiveView)</a:t>
            </a:r>
          </a:p>
          <a:p>
            <a:pPr algn="l" lvl="1">
              <a:spcAft>
                <a:spcPts val="900"/>
              </a:spcAft>
              <a:buNone/>
            </a:pPr>
            <a:r>
              <a:rPr sz="11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ενημέρωση χωρίς reload</a:t>
            </a:r>
          </a:p>
          <a:p>
            <a:pPr algn="l" indent="-201168" marL="201168">
              <a:spcAft>
                <a:spcPts val="100"/>
              </a:spcAft>
              <a:buFont typeface="Arial" pitchFamily="34" charset="0"/>
              <a:buChar char="▪"/>
            </a:pPr>
            <a:r>
              <a:rPr sz="135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Azure / Kubernetes</a:t>
            </a:r>
          </a:p>
          <a:p>
            <a:pPr algn="l" lvl="1">
              <a:buNone/>
            </a:pPr>
            <a:r>
              <a:rPr sz="11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auto-scaling, IaC με Terraform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Η ΠΛΑΤΦΌΡΜΑ ΣΤΗΝ ΠΡΆΞΗ · 1/3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Αναζήτηση &amp; ανάλυση εκπομπών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98448"/>
            <a:ext cx="6766560" cy="457200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6400800" cy="4572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Οθόνη αναζήτησης + αποτελέσματα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Εισαγωγή customer code + χρονικό εύρος και ο πίνακας/γράφημα εκπομπών που επιστρέφεται (test data). Δείχνει το Self-service &amp; το real-time UI.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389888"/>
            <a:ext cx="429768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Χαρακτηριστικό 1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8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Αναζήτηση δεδομένων εκπομπών</a:t>
            </a:r>
          </a:p>
          <a:p>
            <a:pPr algn="l" indent="-201168" marL="201168">
              <a:lnSpc>
                <a:spcPct val="108000"/>
              </a:lnSpc>
              <a:spcAft>
                <a:spcPts val="800"/>
              </a:spcAft>
              <a:buFont typeface="Arial" pitchFamily="34" charset="0"/>
              <a:buChar char="▪"/>
            </a:pPr>
            <a:r>
              <a:rPr sz="14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Customer code + χρονικό εύρος → άμεση ανάκτηση</a:t>
            </a:r>
          </a:p>
          <a:p>
            <a:pPr algn="l" indent="-201168" marL="201168">
              <a:lnSpc>
                <a:spcPct val="108000"/>
              </a:lnSpc>
              <a:spcAft>
                <a:spcPts val="800"/>
              </a:spcAft>
              <a:buFont typeface="Arial" pitchFamily="34" charset="0"/>
              <a:buChar char="▪"/>
            </a:pPr>
            <a:r>
              <a:rPr sz="14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Αντικαθιστά τη ροή email-και-αναμονής 3–8 εβδομάδων</a:t>
            </a:r>
          </a:p>
          <a:p>
            <a:pPr algn="l" indent="-201168" marL="201168">
              <a:lnSpc>
                <a:spcPct val="108000"/>
              </a:lnSpc>
              <a:spcAft>
                <a:spcPts val="1800"/>
              </a:spcAft>
              <a:buFont typeface="Arial" pitchFamily="34" charset="0"/>
              <a:buChar char="▪"/>
            </a:pPr>
            <a:r>
              <a:rPr sz="14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Polling από Dremio μέσω Oban → freshness σε ώρες</a:t>
            </a:r>
          </a:p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Χαρακτηριστικό 2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buNone/>
            </a:pPr>
            <a:r>
              <a:rPr sz="18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Ανάλυση ανά αποστολή / δρομολόγιο</a:t>
            </a:r>
          </a:p>
          <a:p>
            <a:pPr algn="l" indent="-201168" marL="201168">
              <a:lnSpc>
                <a:spcPct val="108000"/>
              </a:lnSpc>
              <a:buFont typeface="Arial" pitchFamily="34" charset="0"/>
              <a:buChar char="▪"/>
            </a:pPr>
            <a:r>
              <a:rPr sz="14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Ποια δρομολόγια βαραίνουν το αποτύπωμα του πελάτη — βάση για ECO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Η ΠΛΑΤΦΌΡΜΑ ΣΤΗΝ ΠΡΆΞΗ · 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Πιστοποιητικά &amp; εξαγωγή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5440680" cy="210312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5074920" cy="2103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Δημιουργία πιστοποιητικού (Certificates)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Το εργαλείο Certificates με την πρόοδο των Oban workers που αντλούν από το Energy Bank (test data).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30168"/>
            <a:ext cx="5440680" cy="210312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0168"/>
            <a:ext cx="5074920" cy="2103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Εξαγωγή σε Excel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Η οθόνη export: πλήρη δεδομένα αποστολών + emissions saving data για πελάτες ECO.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89888"/>
            <a:ext cx="5440680" cy="434340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89888"/>
            <a:ext cx="5074920" cy="434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Παραγόμενο πιστοποιητικό (PDF) + αναφορά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Το τελικό PDF πιστοποιητικό με τη συνοδευτική αναφορά μεθοδολογίας (ISCC / mass balance). Ολόκληρη η ροή εκτελείται αυτόματα — από εβδομάδες σε λεπτά.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Η ΠΛΑΤΦΌΡΜΑ ΣΤΗΝ ΠΡΆΞΗ · 3/3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Energy Bank, Bunker &amp; Observability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3584448" cy="429768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3218688" cy="4297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Energy Bank — ισοζύγιο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Καταθέσεις/αναλήψεις βιώσιμου καυσίμου &amp; υπόλοιπα λογαριασμών (mass balance) — event-sourced ledger.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1389888"/>
            <a:ext cx="3584448" cy="429768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389888"/>
            <a:ext cx="3218688" cy="4297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Bunker Optimization — πλάνο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Αποτέλεσμα του solver: βέλτιστο πλάνο ανεφοδιασμού ανά λιμάνι/δρομολόγιο (BOPS / BoW).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4152" y="1389888"/>
            <a:ext cx="3584448" cy="4297680"/>
          </a:xfrm>
          <a:prstGeom prst="rect">
            <a:avLst/>
          </a:prstGeom>
          <a:solidFill>
            <a:srgbClr val="F0EDE6"/>
          </a:solidFill>
          <a:ln w="19050">
            <a:solidFill>
              <a:srgbClr val="B9A5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389888"/>
            <a:ext cx="3218688" cy="42976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300" b="1" i="0">
                <a:solidFill>
                  <a:srgbClr val="7A1626"/>
                </a:solidFill>
                <a:latin typeface="Carlito"/>
                <a:cs typeface="Carlito"/>
                <a:ea typeface="Carlito"/>
              </a:rPr>
              <a:t>▣  ΣΤΙΓΜΙΟΤΥΠΟ ΟΘΟΝΗΣ</a:t>
            </a:r>
          </a:p>
          <a:p>
            <a:pPr algn="ctr">
              <a:spcAft>
                <a:spcPts val="600"/>
              </a:spcAft>
              <a:buNone/>
            </a:pPr>
            <a:r>
              <a:rPr sz="15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Observability dashboard</a:t>
            </a:r>
          </a:p>
          <a:p>
            <a:pPr algn="ctr">
              <a:lnSpc>
                <a:spcPct val="105000"/>
              </a:lnSpc>
              <a:buNone/>
            </a:pPr>
            <a:r>
              <a:rPr sz="115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Grafana: ρυθμός αναπτύξεων &amp; υγεία συστήματος — τεκμηριώνει τα ~32 deploys/ημέρα και τη διαθεσιμότητα.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ΘΕΩΡΗΤΙΚΌ ΥΠΌΒΑΘΡΟ (ΣΎΝΟΨΗ)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Λογιστική εκπομπών — τα βασικά</a:t>
            </a:r>
          </a:p>
        </p:txBody>
      </p:sp>
      <p:pic>
        <p:nvPicPr>
          <p:cNvPr id="7" name="Picture 6" descr="Carbon_Accounting_Sco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45429"/>
            <a:ext cx="5669280" cy="36780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435608"/>
            <a:ext cx="51206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6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Από τη θεωρία στον κώδικα</a:t>
            </a:r>
          </a:p>
          <a:p>
            <a:pPr algn="l" indent="-201168" marL="201168">
              <a:lnSpc>
                <a:spcPct val="105000"/>
              </a:lnSpc>
              <a:spcAft>
                <a:spcPts val="900"/>
              </a:spcAft>
              <a:buFont typeface="Arial" pitchFamily="34" charset="0"/>
              <a:buChar char="▪"/>
            </a:pPr>
            <a:r>
              <a:rPr sz="140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Scope 1 / 2 / 3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Άμεσες · έμμεσες από ενέργεια · αλυσίδα αξίας</a:t>
            </a:r>
          </a:p>
          <a:p>
            <a:pPr algn="l" indent="-201168" marL="201168">
              <a:lnSpc>
                <a:spcPct val="105000"/>
              </a:lnSpc>
              <a:spcAft>
                <a:spcPts val="900"/>
              </a:spcAft>
              <a:buFont typeface="Arial" pitchFamily="34" charset="0"/>
              <a:buChar char="▪"/>
            </a:pPr>
            <a:r>
              <a:rPr sz="140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TTW vs WTW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Όρια συστήματος: Tank-to-Wake vs Well-to-Wake</a:t>
            </a:r>
          </a:p>
          <a:p>
            <a:pPr algn="l" indent="-201168" marL="201168">
              <a:lnSpc>
                <a:spcPct val="105000"/>
              </a:lnSpc>
              <a:spcAft>
                <a:spcPts val="900"/>
              </a:spcAft>
              <a:buFont typeface="Arial" pitchFamily="34" charset="0"/>
              <a:buChar char="▪"/>
            </a:pPr>
            <a:r>
              <a:rPr sz="140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Trade factors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Συντελεστές εμπορικής διαδρομής — ο πυρήνας του υπολογισμού</a:t>
            </a:r>
          </a:p>
          <a:p>
            <a:pPr algn="l" indent="-201168" marL="201168">
              <a:lnSpc>
                <a:spcPct val="105000"/>
              </a:lnSpc>
              <a:spcAft>
                <a:spcPts val="900"/>
              </a:spcAft>
              <a:buFont typeface="Arial" pitchFamily="34" charset="0"/>
              <a:buChar char="▪"/>
            </a:pPr>
            <a:r>
              <a:rPr sz="140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Mass balance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Λογιστική σύνδεση βιώσιμου καυσίμου με αξιώσεις</a:t>
            </a:r>
          </a:p>
          <a:p>
            <a:pPr algn="l" indent="-201168" marL="201168">
              <a:lnSpc>
                <a:spcPct val="105000"/>
              </a:lnSpc>
              <a:spcAft>
                <a:spcPts val="900"/>
              </a:spcAft>
              <a:buFont typeface="Arial" pitchFamily="34" charset="0"/>
              <a:buChar char="▪"/>
            </a:pPr>
            <a:r>
              <a:rPr sz="140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Book-and-claim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Αναφορά αποσυνδεδεμένη από τη φυσική ροή</a:t>
            </a:r>
          </a:p>
          <a:p>
            <a:pPr algn="l" indent="-201168" marL="201168">
              <a:lnSpc>
                <a:spcPct val="105000"/>
              </a:lnSpc>
              <a:spcAft>
                <a:spcPts val="900"/>
              </a:spcAft>
              <a:buFont typeface="Arial" pitchFamily="34" charset="0"/>
              <a:buChar char="▪"/>
            </a:pPr>
            <a:r>
              <a:rPr sz="140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ISCC / GLEC / GHG Protocol  —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Τα πρότυπα πιστοποίησης &amp; μεθοδολογίας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ΤΕΧΝΙΚΉ ΕΠΙΣΚΌΠΗΣΗ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Τεχνολογίες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44168"/>
            <a:ext cx="3584448" cy="214884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44168"/>
            <a:ext cx="3584448" cy="9144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-elix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053" y="1636776"/>
            <a:ext cx="2078181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2715768"/>
            <a:ext cx="3218688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300"/>
              </a:spcAft>
              <a:buNone/>
            </a:pPr>
            <a:r>
              <a:rPr sz="17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BEAM / Elixir</a:t>
            </a:r>
          </a:p>
          <a:p>
            <a:pPr algn="ctr">
              <a:lnSpc>
                <a:spcPct val="105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Υψηλή διαθεσιμότητα &amp; ταυτοχρονισμός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44168"/>
            <a:ext cx="3584448" cy="214884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44168"/>
            <a:ext cx="3584448" cy="9144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phoen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998" y="1636776"/>
            <a:ext cx="1541812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2715768"/>
            <a:ext cx="3218688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300"/>
              </a:spcAft>
              <a:buNone/>
            </a:pPr>
            <a:r>
              <a:rPr sz="17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Phoenix LiveView</a:t>
            </a:r>
          </a:p>
          <a:p>
            <a:pPr algn="ctr">
              <a:lnSpc>
                <a:spcPct val="105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Real-time web χωρίς reload σελίδας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344168"/>
            <a:ext cx="3584448" cy="214884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344168"/>
            <a:ext cx="3584448" cy="9144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-n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324" y="1636776"/>
            <a:ext cx="868679" cy="8686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75320" y="2715768"/>
            <a:ext cx="3218688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300"/>
              </a:spcAft>
              <a:buNone/>
            </a:pPr>
            <a:r>
              <a:rPr sz="17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Nix / Flakes</a:t>
            </a:r>
          </a:p>
          <a:p>
            <a:pPr algn="ctr">
              <a:lnSpc>
                <a:spcPct val="105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Reproducible builds &amp; dev environments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94176"/>
            <a:ext cx="3584448" cy="9601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94176"/>
            <a:ext cx="91440" cy="9601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813048"/>
            <a:ext cx="32004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3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PostgreSQL / Ecto</a:t>
            </a:r>
          </a:p>
          <a:p>
            <a:pPr algn="l">
              <a:lnSpc>
                <a:spcPct val="100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Σχεσιακή μονιμότητα δεδομένων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694176"/>
            <a:ext cx="3584448" cy="9601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694176"/>
            <a:ext cx="91440" cy="9601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5424" y="3813048"/>
            <a:ext cx="32004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3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Apache Kafka</a:t>
            </a:r>
          </a:p>
          <a:p>
            <a:pPr algn="l">
              <a:lnSpc>
                <a:spcPct val="100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Event-driven ροή μηνυμάτων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694176"/>
            <a:ext cx="3584448" cy="9601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2440" y="3694176"/>
            <a:ext cx="91440" cy="9601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813048"/>
            <a:ext cx="32004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3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Commanded / EventStore</a:t>
            </a:r>
          </a:p>
          <a:p>
            <a:pPr algn="l">
              <a:lnSpc>
                <a:spcPct val="100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Event sourcing &amp; CQRS (Energy Bank)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18888"/>
            <a:ext cx="3584448" cy="9601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818888"/>
            <a:ext cx="91440" cy="9601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937760"/>
            <a:ext cx="32004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3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Oban</a:t>
            </a:r>
          </a:p>
          <a:p>
            <a:pPr algn="l">
              <a:lnSpc>
                <a:spcPct val="100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Αξιόπιστες ασύγχρονες εργασίες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818888"/>
            <a:ext cx="3584448" cy="9601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97680" y="4818888"/>
            <a:ext cx="91440" cy="9601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35424" y="4937760"/>
            <a:ext cx="32004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3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Dremio</a:t>
            </a:r>
          </a:p>
          <a:p>
            <a:pPr algn="l">
              <a:lnSpc>
                <a:spcPct val="100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Data lake — πηγή δεδομένων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818888"/>
            <a:ext cx="3584448" cy="96012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40" y="4818888"/>
            <a:ext cx="91440" cy="96012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0184" y="4937760"/>
            <a:ext cx="320040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3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Azure · Kubernetes · Terraform</a:t>
            </a:r>
          </a:p>
          <a:p>
            <a:pPr algn="l">
              <a:lnSpc>
                <a:spcPct val="100000"/>
              </a:lnSpc>
              <a:buNone/>
            </a:pPr>
            <a:r>
              <a:rPr sz="118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Cloud, auto-scaling &amp; IaC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ΕΡΓΑΣΙΑΚΈΣ ΜΈΘΟΔΟΙ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Extreme Programming σε ομάδα 28 μελών</a:t>
            </a:r>
          </a:p>
        </p:txBody>
      </p:sp>
      <p:pic>
        <p:nvPicPr>
          <p:cNvPr id="7" name="Picture 6" descr="Extreme_Programming_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98448"/>
            <a:ext cx="45720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1481328"/>
            <a:ext cx="60350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  <a:buNone/>
            </a:pPr>
            <a:r>
              <a:rPr sz="155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Πρακτικές που έκαναν εφικτό τον κύκλο 6 μηνών</a:t>
            </a:r>
          </a:p>
          <a:p>
            <a:pPr algn="l" indent="-201168" marL="201168">
              <a:lnSpc>
                <a:spcPct val="105000"/>
              </a:lnSpc>
              <a:spcAft>
                <a:spcPts val="1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Pair programming  —  </a:t>
            </a: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συνεχής έλεγχος κώδικα &amp; μεταφορά γνώσης</a:t>
            </a:r>
          </a:p>
          <a:p>
            <a:pPr algn="l" indent="-201168" marL="201168">
              <a:lnSpc>
                <a:spcPct val="105000"/>
              </a:lnSpc>
              <a:spcAft>
                <a:spcPts val="1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TDD  —  </a:t>
            </a: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ανάπτυξη καθοδηγούμενη από δοκιμές — 80%+ κάλυψη</a:t>
            </a:r>
          </a:p>
          <a:p>
            <a:pPr algn="l" indent="-201168" marL="201168">
              <a:lnSpc>
                <a:spcPct val="105000"/>
              </a:lnSpc>
              <a:spcAft>
                <a:spcPts val="1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CI/CD  —  </a:t>
            </a: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trunk-based, ~32 αναπτύξεις/ημέρα</a:t>
            </a:r>
          </a:p>
          <a:p>
            <a:pPr algn="l" indent="-201168" marL="201168">
              <a:lnSpc>
                <a:spcPct val="105000"/>
              </a:lnSpc>
              <a:spcAft>
                <a:spcPts val="1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Vertical ownership  —  </a:t>
            </a: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κάθε μηχανικός: από τη βάση δεδομένων έως το UI</a:t>
            </a:r>
          </a:p>
          <a:p>
            <a:pPr algn="l" indent="-201168" marL="201168">
              <a:lnSpc>
                <a:spcPct val="105000"/>
              </a:lnSpc>
              <a:spcAft>
                <a:spcPts val="1100"/>
              </a:spcAft>
              <a:buFont typeface="Arial" pitchFamily="34" charset="0"/>
              <a:buChar char="▪"/>
            </a:pPr>
            <a:r>
              <a:rPr sz="1450" b="1" i="0">
                <a:solidFill>
                  <a:srgbClr val="570F1B"/>
                </a:solidFill>
                <a:latin typeface="Carlito"/>
                <a:cs typeface="Carlito"/>
                <a:ea typeface="Carlito"/>
              </a:rPr>
              <a:t>Feedback loops  —  </a:t>
            </a: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γρήγορη ανατροφοδότηση σε κάθε επίπεδο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ΑΠΟΤΕΛΕΣΜΑΤΑ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Μετρήσιμος αντίκτυπος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84448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3584448" cy="10972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27248" cy="1874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200"/>
              </a:spcAft>
              <a:buNone/>
            </a:pPr>
            <a:r>
              <a:rPr sz="44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1.300+</a:t>
            </a:r>
          </a:p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ενεργοί χρήστες</a:t>
            </a:r>
          </a:p>
          <a:p>
            <a:pPr algn="ctr">
              <a:buNone/>
            </a:pPr>
            <a:r>
              <a:rPr sz="12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από &lt;100 στην εποχή Excel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417320"/>
            <a:ext cx="3584448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417320"/>
            <a:ext cx="3584448" cy="10972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2"/>
            <a:ext cx="3127248" cy="1874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200"/>
              </a:spcAft>
              <a:buNone/>
            </a:pPr>
            <a:r>
              <a:rPr sz="44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$31 εκ.</a:t>
            </a:r>
          </a:p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ECO Delivery 2024</a:t>
            </a:r>
          </a:p>
          <a:p>
            <a:pPr algn="ctr">
              <a:buNone/>
            </a:pPr>
            <a:r>
              <a:rPr sz="12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98.000 FFE εμπορευμάτων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417320"/>
            <a:ext cx="3584448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4152" y="1417320"/>
            <a:ext cx="3584448" cy="10972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73352"/>
            <a:ext cx="3127248" cy="1874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200"/>
              </a:spcAft>
              <a:buNone/>
            </a:pPr>
            <a:r>
              <a:rPr sz="44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6 μήνες</a:t>
            </a:r>
          </a:p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έως παραγωγή</a:t>
            </a:r>
          </a:p>
          <a:p>
            <a:pPr algn="ctr">
              <a:buNone/>
            </a:pPr>
            <a:r>
              <a:rPr sz="12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Μάρτιος → Σεπτέμβριος 2023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3584448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3584448" cy="10972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3127248" cy="1874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200"/>
              </a:spcAft>
              <a:buNone/>
            </a:pPr>
            <a:r>
              <a:rPr sz="44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~32</a:t>
            </a:r>
          </a:p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αναπτύξεις / ημέρα</a:t>
            </a:r>
          </a:p>
          <a:p>
            <a:pPr algn="ctr">
              <a:buNone/>
            </a:pPr>
            <a:r>
              <a:rPr sz="12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μία κάθε ~15 λεπτά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3886200"/>
            <a:ext cx="3584448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8536" y="3886200"/>
            <a:ext cx="3584448" cy="10972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4142232"/>
            <a:ext cx="3127248" cy="1874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200"/>
              </a:spcAft>
              <a:buNone/>
            </a:pPr>
            <a:r>
              <a:rPr sz="44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720+</a:t>
            </a:r>
          </a:p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schema migrations</a:t>
            </a:r>
          </a:p>
          <a:p>
            <a:pPr algn="ctr">
              <a:buNone/>
            </a:pPr>
            <a:r>
              <a:rPr sz="12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χωρίς διακοπή υπηρεσίας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3886200"/>
            <a:ext cx="3584448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4152" y="3886200"/>
            <a:ext cx="3584448" cy="10972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4142232"/>
            <a:ext cx="3127248" cy="1874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200"/>
              </a:spcAft>
              <a:buNone/>
            </a:pPr>
            <a:r>
              <a:rPr sz="44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100%</a:t>
            </a:r>
          </a:p>
          <a:p>
            <a:pPr algn="ctr">
              <a:spcAft>
                <a:spcPts val="400"/>
              </a:spcAft>
              <a:buNone/>
            </a:pPr>
            <a:r>
              <a:rPr sz="1600" b="1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ευρημάτων GIA</a:t>
            </a:r>
          </a:p>
          <a:p>
            <a:pPr algn="ctr">
              <a:buNone/>
            </a:pPr>
            <a:r>
              <a:rPr sz="12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πλήρης αντιμετώπιση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FFFFFF"/>
                </a:solidFill>
                <a:latin typeface="Carlito"/>
                <a:cs typeface="Carlito"/>
                <a:ea typeface="Carlit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ΑΠΟΤΕΛΈΣΜΑΤΑ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Πλήρης πίνακας μετρικών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89888"/>
          <a:ext cx="7406638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12372"/>
                <a:gridCol w="3078084"/>
                <a:gridCol w="211618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rlito"/>
                          <a:cs typeface="Carlito"/>
                          <a:ea typeface="Carlito"/>
                        </a:rPr>
                        <a:t>Διάσταση</a:t>
                      </a:r>
                    </a:p>
                  </a:txBody>
                  <a:tcPr marL="109728" marR="73152" marT="27432" marB="27432" anchor="ctr">
                    <a:solidFill>
                      <a:srgbClr val="7A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rlito"/>
                          <a:cs typeface="Carlito"/>
                          <a:ea typeface="Carlito"/>
                        </a:rPr>
                        <a:t>Μετρική</a:t>
                      </a:r>
                    </a:p>
                  </a:txBody>
                  <a:tcPr marL="109728" marR="73152" marT="27432" marB="27432" anchor="ctr">
                    <a:solidFill>
                      <a:srgbClr val="7A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rlito"/>
                          <a:cs typeface="Carlito"/>
                          <a:ea typeface="Carlito"/>
                        </a:rPr>
                        <a:t>Τιμή</a:t>
                      </a:r>
                    </a:p>
                  </a:txBody>
                  <a:tcPr marL="109728" marR="73152" marT="27432" marB="27432" anchor="ctr">
                    <a:solidFill>
                      <a:srgbClr val="7A16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Υιοθέτηση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Ενεργοί χρήστες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1.300+ (από &lt;100)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Εμπορικός αντίκτυπος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ECO Delivery Ocean 2024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98.000 FFE / $31 εκ.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Κανονιστική συμμόρφωση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Έλεγχος GIA 2023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Πλήρης αντιμετώπιση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Ταχύτητα παράδοσης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Αναπτύξεις σε παραγωγή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~32 / ημέρα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Αξιοπιστία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Schema migrations χωρίς διακοπή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720+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Έλεγχος ποιότητας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Κάλυψη αυτοματοποιημένων tests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80%+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Κλίμακα κώδικα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Αρχεία πηγαίου κώδικα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~6.000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570F1B"/>
                          </a:solidFill>
                          <a:latin typeface="Carlito"/>
                          <a:cs typeface="Carlito"/>
                          <a:ea typeface="Carlito"/>
                        </a:rPr>
                        <a:t>Κύκλος ανάπτυξης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Από έναρξη έως παραγωγή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323"/>
                          </a:solidFill>
                          <a:latin typeface="Carlito"/>
                          <a:cs typeface="Carlito"/>
                          <a:ea typeface="Carlito"/>
                        </a:rPr>
                        <a:t>6 μήνες</a:t>
                      </a:r>
                    </a:p>
                  </a:txBody>
                  <a:tcPr marL="109728" marR="73152" marT="27432" marB="27432" anchor="ctr">
                    <a:solidFill>
                      <a:srgbClr val="ECE4D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0" y="1389888"/>
            <a:ext cx="3474720" cy="425196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389888"/>
            <a:ext cx="109728" cy="425196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0496" y="1664208"/>
            <a:ext cx="30175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600" b="1" i="0">
                <a:solidFill>
                  <a:srgbClr val="7A1626"/>
                </a:solidFill>
                <a:latin typeface="Caladea"/>
                <a:cs typeface="Caladea"/>
                <a:ea typeface="Caladea"/>
              </a:rPr>
              <a:t>Με μια ματιά</a:t>
            </a:r>
          </a:p>
          <a:p>
            <a:pPr algn="l" indent="-201168" marL="201168">
              <a:lnSpc>
                <a:spcPct val="112000"/>
              </a:lnSpc>
              <a:spcAft>
                <a:spcPts val="1000"/>
              </a:spcAft>
              <a:buFont typeface="Arial" pitchFamily="34" charset="0"/>
              <a:buChar char="▪"/>
            </a:pP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Από proof-of-concept σε production με μετρήσιμη εμπορική αξία σε μήνες.</a:t>
            </a:r>
          </a:p>
          <a:p>
            <a:pPr algn="l" indent="-201168" marL="201168">
              <a:lnSpc>
                <a:spcPct val="112000"/>
              </a:lnSpc>
              <a:spcAft>
                <a:spcPts val="1000"/>
              </a:spcAft>
              <a:buFont typeface="Arial" pitchFamily="34" charset="0"/>
              <a:buChar char="▪"/>
            </a:pP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Ταχύτητα και ποιότητα δεν είναι αντίθετοι στόχοι.</a:t>
            </a:r>
          </a:p>
          <a:p>
            <a:pPr algn="l" indent="-201168" marL="201168">
              <a:lnSpc>
                <a:spcPct val="112000"/>
              </a:lnSpc>
              <a:buFont typeface="Arial" pitchFamily="34" charset="0"/>
              <a:buChar char="▪"/>
            </a:pPr>
            <a:r>
              <a:rPr sz="13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Ο τεχνικός σχεδιασμός υπηρετεί και την εταιρική διακυβέρνηση.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ΣΥΜΠΕΡΆΣΜΑΤΑ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Μαθήματα &amp; συμβιβασμοί (trade-offs)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35608"/>
            <a:ext cx="11155680" cy="7498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35608"/>
            <a:ext cx="91440" cy="7498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35608"/>
            <a:ext cx="1069848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Vertical ownership vs γνωσιακό φορτίο  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Μεγάλη συνοχή, αλλά απαιτεί ευρεία γνώση — αντίμετρο το pairing &amp; onboarding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76856"/>
            <a:ext cx="1115568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76856"/>
            <a:ext cx="91440" cy="7498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76856"/>
            <a:ext cx="1069848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Monorepo: ισχύς με κόστος  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Ατομικές αναπτύξεις &amp; refactoring, αλλά αυξανόμενος χρόνος build/CI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18104"/>
            <a:ext cx="11155680" cy="7498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118104"/>
            <a:ext cx="91440" cy="7498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18104"/>
            <a:ext cx="1069848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Event sourcing: επιλεκτικά  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Ιδανικό για audit-heavy προβλήματα (Energy Bank), αλλά αυξάνει την καμπύλη μάθησης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59352"/>
            <a:ext cx="1115568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59352"/>
            <a:ext cx="91440" cy="7498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59352"/>
            <a:ext cx="1069848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Cloud vs self-hosting  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Ευελιξία κλιμάκωσης, αλλά κόστος εξαρτώμενο από τον όγκο — απαιτεί σχεδιασμό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00600"/>
            <a:ext cx="11155680" cy="749808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800600"/>
            <a:ext cx="91440" cy="74980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800600"/>
            <a:ext cx="1069848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Ταχύτητα ως πλεονέκτημα    </a:t>
            </a:r>
            <a:r>
              <a:rPr sz="130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TDD + pair programming + CD: η ποιότητα επιτρέπει την ταχύτητα, δεν την εμποδίζει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64008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buNone/>
            </a:pPr>
            <a:r>
              <a:rPr sz="1100" b="1" i="0">
                <a:solidFill>
                  <a:srgbClr val="C29B52"/>
                </a:solidFill>
                <a:latin typeface="Carlito"/>
                <a:cs typeface="Carlito"/>
                <a:ea typeface="Carlito"/>
              </a:rPr>
              <a:t>ΜΕΛΛΟΝΤΙΚΉ ΕΡΓΑΣΊΑ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FFFFFF"/>
                </a:solidFill>
                <a:latin typeface="Caladea"/>
                <a:cs typeface="Caladea"/>
                <a:ea typeface="Caladea"/>
              </a:rPr>
              <a:t>Επόμενα βήματα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584448" cy="182880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773936"/>
            <a:ext cx="3127248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→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5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Scope 2 εκπομπές</a:t>
            </a:r>
          </a:p>
          <a:p>
            <a:pPr algn="l">
              <a:lnSpc>
                <a:spcPct val="108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Γραφεία, τερματικά και cold ironing πλοίων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572768"/>
            <a:ext cx="3584448" cy="182880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773936"/>
            <a:ext cx="3127248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→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5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Επέκταση κάλυψης στόλου</a:t>
            </a:r>
          </a:p>
          <a:p>
            <a:pPr algn="l">
              <a:lnSpc>
                <a:spcPct val="108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Περισσότερες δραστηριότητες &amp; τύποι μεταφοράς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572768"/>
            <a:ext cx="3584448" cy="182880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0184" y="1773936"/>
            <a:ext cx="3127248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→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5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Επέκταση αναφοράς SBTi</a:t>
            </a:r>
          </a:p>
          <a:p>
            <a:pPr algn="l">
              <a:lnSpc>
                <a:spcPct val="108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Πληρέστερη παρακολούθηση κλιματικών δεσμεύσεων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30168"/>
            <a:ext cx="3584448" cy="182880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831336"/>
            <a:ext cx="3127248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→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5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Προβλεπτικά analytics</a:t>
            </a:r>
          </a:p>
          <a:p>
            <a:pPr algn="l">
              <a:lnSpc>
                <a:spcPct val="108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Σενάρια αποκαρβονοποίησης &amp; πρόβλεψη εκπομπών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3630168"/>
            <a:ext cx="3584448" cy="1828800"/>
          </a:xfrm>
          <a:prstGeom prst="round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3831336"/>
            <a:ext cx="3127248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2400" b="1" i="0">
                <a:solidFill>
                  <a:srgbClr val="C29B52"/>
                </a:solidFill>
                <a:latin typeface="Caladea"/>
                <a:cs typeface="Caladea"/>
                <a:ea typeface="Caladea"/>
              </a:rPr>
              <a:t>→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55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Bunker ↔ Energy Bank</a:t>
            </a:r>
          </a:p>
          <a:p>
            <a:pPr algn="l">
              <a:lnSpc>
                <a:spcPct val="108000"/>
              </a:lnSpc>
              <a:buNone/>
            </a:pPr>
            <a:r>
              <a:rPr sz="1250" b="0" i="0">
                <a:solidFill>
                  <a:srgbClr val="232323"/>
                </a:solidFill>
                <a:latin typeface="Carlito"/>
                <a:cs typeface="Carlito"/>
                <a:ea typeface="Carlito"/>
              </a:rPr>
              <a:t>Σύνδεση βελτιστοποίησης με τη λογιστική πράσινου καυσίμου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Πάγκος Εργασίας Εκπομπών — Διπλωματική Εργασία, Κ. Γκίνης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55664"/>
            <a:ext cx="822960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buNone/>
            </a:pPr>
            <a:r>
              <a:rPr sz="95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7A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64008" cy="685800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up-4color-landsca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777240"/>
            <a:ext cx="2006279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06324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4000" b="1" i="0">
                <a:solidFill>
                  <a:srgbClr val="570F1B"/>
                </a:solidFill>
                <a:latin typeface="Caladea"/>
                <a:cs typeface="Caladea"/>
                <a:ea typeface="Caladea"/>
              </a:rPr>
              <a:t>Σας ευχαριστώ</a:t>
            </a:r>
          </a:p>
          <a:p>
            <a:pPr algn="ctr">
              <a:buNone/>
            </a:pPr>
            <a:r>
              <a:rPr sz="2000" b="0" i="1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Ερωτήσεις &amp; συζήτηση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4526280"/>
            <a:ext cx="3749039" cy="25400"/>
          </a:xfrm>
          <a:prstGeom prst="rect">
            <a:avLst/>
          </a:prstGeom>
          <a:solidFill>
            <a:srgbClr val="C29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3272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sz="1700" b="1" i="0">
                <a:solidFill>
                  <a:srgbClr val="232323"/>
                </a:solidFill>
                <a:latin typeface="Caladea"/>
                <a:cs typeface="Caladea"/>
                <a:ea typeface="Caladea"/>
              </a:rPr>
              <a:t>Κωνσταντίνος Γκίνης</a:t>
            </a:r>
          </a:p>
          <a:p>
            <a:pPr algn="ctr">
              <a:spcAft>
                <a:spcPts val="200"/>
              </a:spcAft>
              <a:buNone/>
            </a:pPr>
            <a:r>
              <a:rPr sz="130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Επιβλέπων: Χρήστος Μπούρας, Καθηγητής</a:t>
            </a:r>
          </a:p>
          <a:p>
            <a:pPr algn="ctr">
              <a:buNone/>
            </a:pPr>
            <a:r>
              <a:rPr sz="1200" b="0" i="0">
                <a:solidFill>
                  <a:srgbClr val="6E6E6E"/>
                </a:solidFill>
                <a:latin typeface="Carlito"/>
                <a:cs typeface="Carlito"/>
                <a:ea typeface="Carlito"/>
              </a:rPr>
              <a:t>Πανεπιστήμιο Πατρών · Τμήμα Μηχανικών Η/Υ &amp; Πληροφορικής · Μάιος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